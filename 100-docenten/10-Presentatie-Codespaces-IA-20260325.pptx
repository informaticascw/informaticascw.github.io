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83" r:id="rId2"/>
    <p:sldId id="289" r:id="rId3"/>
    <p:sldId id="284" r:id="rId4"/>
    <p:sldId id="296" r:id="rId5"/>
    <p:sldId id="294" r:id="rId6"/>
    <p:sldId id="295" r:id="rId7"/>
    <p:sldId id="287" r:id="rId8"/>
    <p:sldId id="293" r:id="rId9"/>
    <p:sldId id="297" r:id="rId10"/>
    <p:sldId id="288" r:id="rId11"/>
    <p:sldId id="275" r:id="rId12"/>
    <p:sldId id="272" r:id="rId13"/>
    <p:sldId id="273" r:id="rId14"/>
    <p:sldId id="281" r:id="rId15"/>
    <p:sldId id="277" r:id="rId16"/>
    <p:sldId id="257" r:id="rId17"/>
    <p:sldId id="258" r:id="rId18"/>
    <p:sldId id="259" r:id="rId19"/>
    <p:sldId id="264" r:id="rId20"/>
    <p:sldId id="268" r:id="rId21"/>
    <p:sldId id="290" r:id="rId22"/>
    <p:sldId id="265" r:id="rId23"/>
    <p:sldId id="300" r:id="rId24"/>
    <p:sldId id="299" r:id="rId25"/>
    <p:sldId id="298" r:id="rId26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29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2C96D8-D49B-C844-A38E-5026F2A394EA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53DE3E57-21A1-C341-9EE0-6F91AA225974}">
      <dgm:prSet/>
      <dgm:spPr/>
      <dgm:t>
        <a:bodyPr/>
        <a:lstStyle/>
        <a:p>
          <a:r>
            <a:rPr lang="en-GB" dirty="0"/>
            <a:t>D</a:t>
          </a:r>
          <a:r>
            <a:rPr lang="en-NL" dirty="0"/>
            <a:t>ev container</a:t>
          </a:r>
        </a:p>
      </dgm:t>
    </dgm:pt>
    <dgm:pt modelId="{CFD84A1E-78B9-334F-9975-5B296D95E6AF}" type="parTrans" cxnId="{899BB91A-A4F5-7C4B-AE43-EC49ED954DE4}">
      <dgm:prSet/>
      <dgm:spPr/>
      <dgm:t>
        <a:bodyPr/>
        <a:lstStyle/>
        <a:p>
          <a:endParaRPr lang="en-GB"/>
        </a:p>
      </dgm:t>
    </dgm:pt>
    <dgm:pt modelId="{5762EB1F-7219-7240-A0D1-8EAFFD77FC38}" type="sibTrans" cxnId="{899BB91A-A4F5-7C4B-AE43-EC49ED954DE4}">
      <dgm:prSet/>
      <dgm:spPr/>
      <dgm:t>
        <a:bodyPr/>
        <a:lstStyle/>
        <a:p>
          <a:endParaRPr lang="en-GB"/>
        </a:p>
      </dgm:t>
    </dgm:pt>
    <dgm:pt modelId="{F85E7767-76D0-564D-8693-09CD547F70F1}">
      <dgm:prSet/>
      <dgm:spPr/>
      <dgm:t>
        <a:bodyPr/>
        <a:lstStyle/>
        <a:p>
          <a:r>
            <a:rPr lang="en-NL" dirty="0"/>
            <a:t>execute online</a:t>
          </a:r>
        </a:p>
      </dgm:t>
    </dgm:pt>
    <dgm:pt modelId="{E33E5582-9D99-0040-A64F-C7A0B468C421}" type="parTrans" cxnId="{BBD64DA5-D15E-EB48-A217-50A39DD65C49}">
      <dgm:prSet/>
      <dgm:spPr/>
      <dgm:t>
        <a:bodyPr/>
        <a:lstStyle/>
        <a:p>
          <a:endParaRPr lang="en-GB"/>
        </a:p>
      </dgm:t>
    </dgm:pt>
    <dgm:pt modelId="{E3DEAE74-B0AB-E944-B18B-BB1E36977D60}" type="sibTrans" cxnId="{BBD64DA5-D15E-EB48-A217-50A39DD65C49}">
      <dgm:prSet/>
      <dgm:spPr/>
      <dgm:t>
        <a:bodyPr/>
        <a:lstStyle/>
        <a:p>
          <a:endParaRPr lang="en-GB"/>
        </a:p>
      </dgm:t>
    </dgm:pt>
    <dgm:pt modelId="{27F09923-A646-D340-B0BB-901E5A79FB3E}">
      <dgm:prSet/>
      <dgm:spPr/>
      <dgm:t>
        <a:bodyPr/>
        <a:lstStyle/>
        <a:p>
          <a:r>
            <a:rPr lang="en-GB" dirty="0"/>
            <a:t>s</a:t>
          </a:r>
          <a:r>
            <a:rPr lang="en-NL" dirty="0"/>
            <a:t>upports docker</a:t>
          </a:r>
        </a:p>
      </dgm:t>
    </dgm:pt>
    <dgm:pt modelId="{54AF4A14-7492-614C-B9EE-D4A33E919ED9}" type="parTrans" cxnId="{D91E9872-B2E6-9646-A3C5-2532D09C784F}">
      <dgm:prSet/>
      <dgm:spPr/>
      <dgm:t>
        <a:bodyPr/>
        <a:lstStyle/>
        <a:p>
          <a:endParaRPr lang="en-GB"/>
        </a:p>
      </dgm:t>
    </dgm:pt>
    <dgm:pt modelId="{956A9FC8-A100-8C42-B0FF-D7332D03FA1D}" type="sibTrans" cxnId="{D91E9872-B2E6-9646-A3C5-2532D09C784F}">
      <dgm:prSet/>
      <dgm:spPr/>
      <dgm:t>
        <a:bodyPr/>
        <a:lstStyle/>
        <a:p>
          <a:endParaRPr lang="en-GB"/>
        </a:p>
      </dgm:t>
    </dgm:pt>
    <dgm:pt modelId="{A3ACDC88-6C72-1342-841F-DB773E7DF53D}">
      <dgm:prSet/>
      <dgm:spPr/>
      <dgm:t>
        <a:bodyPr/>
        <a:lstStyle/>
        <a:p>
          <a:r>
            <a:rPr lang="en-NL" dirty="0"/>
            <a:t>VS Code</a:t>
          </a:r>
        </a:p>
      </dgm:t>
    </dgm:pt>
    <dgm:pt modelId="{413CF0CE-D310-8442-9725-BDA0D50CCABC}" type="parTrans" cxnId="{D4B3D58D-C77C-924E-8171-FA47894382C6}">
      <dgm:prSet/>
      <dgm:spPr/>
      <dgm:t>
        <a:bodyPr/>
        <a:lstStyle/>
        <a:p>
          <a:endParaRPr lang="en-GB"/>
        </a:p>
      </dgm:t>
    </dgm:pt>
    <dgm:pt modelId="{51971640-7441-554F-998D-BF73C654321F}" type="sibTrans" cxnId="{D4B3D58D-C77C-924E-8171-FA47894382C6}">
      <dgm:prSet/>
      <dgm:spPr/>
      <dgm:t>
        <a:bodyPr/>
        <a:lstStyle/>
        <a:p>
          <a:endParaRPr lang="en-GB"/>
        </a:p>
      </dgm:t>
    </dgm:pt>
    <dgm:pt modelId="{01589CD2-F3EE-1640-A62C-792BDC227989}">
      <dgm:prSet/>
      <dgm:spPr/>
      <dgm:t>
        <a:bodyPr/>
        <a:lstStyle/>
        <a:p>
          <a:r>
            <a:rPr lang="en-NL" dirty="0"/>
            <a:t>popular editor </a:t>
          </a:r>
        </a:p>
      </dgm:t>
    </dgm:pt>
    <dgm:pt modelId="{E1C84C85-3093-2E47-858F-A580927455B3}" type="parTrans" cxnId="{B8004B0E-EAB9-E241-A685-62073FEA256F}">
      <dgm:prSet/>
      <dgm:spPr/>
      <dgm:t>
        <a:bodyPr/>
        <a:lstStyle/>
        <a:p>
          <a:endParaRPr lang="en-GB"/>
        </a:p>
      </dgm:t>
    </dgm:pt>
    <dgm:pt modelId="{5426C94A-CDF5-B744-8F9C-E7B7DB2FE199}" type="sibTrans" cxnId="{B8004B0E-EAB9-E241-A685-62073FEA256F}">
      <dgm:prSet/>
      <dgm:spPr/>
      <dgm:t>
        <a:bodyPr/>
        <a:lstStyle/>
        <a:p>
          <a:endParaRPr lang="en-GB"/>
        </a:p>
      </dgm:t>
    </dgm:pt>
    <dgm:pt modelId="{DC64D9D9-A7B1-4E48-9AEE-D05BA93A6ED6}">
      <dgm:prSet/>
      <dgm:spPr/>
      <dgm:t>
        <a:bodyPr/>
        <a:lstStyle/>
        <a:p>
          <a:r>
            <a:rPr lang="en-NL" dirty="0"/>
            <a:t>online or local</a:t>
          </a:r>
        </a:p>
      </dgm:t>
    </dgm:pt>
    <dgm:pt modelId="{3F62B1F7-3A91-5645-A7C0-DEFC5CF2AD81}" type="parTrans" cxnId="{615AAF42-F93B-BE4B-BAD5-4C0B0ABDFEE3}">
      <dgm:prSet/>
      <dgm:spPr/>
      <dgm:t>
        <a:bodyPr/>
        <a:lstStyle/>
        <a:p>
          <a:endParaRPr lang="en-GB"/>
        </a:p>
      </dgm:t>
    </dgm:pt>
    <dgm:pt modelId="{E457F35B-9EA2-3E40-8612-103F50E87176}" type="sibTrans" cxnId="{615AAF42-F93B-BE4B-BAD5-4C0B0ABDFEE3}">
      <dgm:prSet/>
      <dgm:spPr/>
      <dgm:t>
        <a:bodyPr/>
        <a:lstStyle/>
        <a:p>
          <a:endParaRPr lang="en-GB"/>
        </a:p>
      </dgm:t>
    </dgm:pt>
    <dgm:pt modelId="{4A86FC47-9D1B-6740-ADC4-0708EB212A8F}">
      <dgm:prSet/>
      <dgm:spPr/>
      <dgm:t>
        <a:bodyPr/>
        <a:lstStyle/>
        <a:p>
          <a:r>
            <a:rPr lang="en-NL" dirty="0"/>
            <a:t>GitHub</a:t>
          </a:r>
        </a:p>
      </dgm:t>
    </dgm:pt>
    <dgm:pt modelId="{FA59BA34-7408-844D-82D5-B5B7D9A678AE}" type="parTrans" cxnId="{A384A9BA-B44B-B743-9654-B12ADDF372D1}">
      <dgm:prSet/>
      <dgm:spPr/>
      <dgm:t>
        <a:bodyPr/>
        <a:lstStyle/>
        <a:p>
          <a:endParaRPr lang="en-GB"/>
        </a:p>
      </dgm:t>
    </dgm:pt>
    <dgm:pt modelId="{FCD3A251-9E36-9444-9BC6-3AA8AC4BF2EE}" type="sibTrans" cxnId="{A384A9BA-B44B-B743-9654-B12ADDF372D1}">
      <dgm:prSet/>
      <dgm:spPr/>
      <dgm:t>
        <a:bodyPr/>
        <a:lstStyle/>
        <a:p>
          <a:endParaRPr lang="en-GB"/>
        </a:p>
      </dgm:t>
    </dgm:pt>
    <dgm:pt modelId="{43B80FAF-5B76-514F-A503-7143F1D9CE4F}">
      <dgm:prSet/>
      <dgm:spPr/>
      <dgm:t>
        <a:bodyPr/>
        <a:lstStyle/>
        <a:p>
          <a:r>
            <a:rPr lang="en-NL" dirty="0"/>
            <a:t>git version control</a:t>
          </a:r>
        </a:p>
      </dgm:t>
    </dgm:pt>
    <dgm:pt modelId="{126B6EAB-F1AC-FC49-9A5C-2D66599DD021}" type="parTrans" cxnId="{47E788C3-D4C9-DC4A-A0EE-A14512F59B5F}">
      <dgm:prSet/>
      <dgm:spPr/>
      <dgm:t>
        <a:bodyPr/>
        <a:lstStyle/>
        <a:p>
          <a:endParaRPr lang="en-GB"/>
        </a:p>
      </dgm:t>
    </dgm:pt>
    <dgm:pt modelId="{0ED0914B-D731-5C44-89E6-EA0538D76976}" type="sibTrans" cxnId="{47E788C3-D4C9-DC4A-A0EE-A14512F59B5F}">
      <dgm:prSet/>
      <dgm:spPr/>
      <dgm:t>
        <a:bodyPr/>
        <a:lstStyle/>
        <a:p>
          <a:endParaRPr lang="en-GB"/>
        </a:p>
      </dgm:t>
    </dgm:pt>
    <dgm:pt modelId="{0573551D-6E30-6C43-A193-F8B7978F02C0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NL" dirty="0"/>
            <a:t>Classroom</a:t>
          </a:r>
        </a:p>
      </dgm:t>
    </dgm:pt>
    <dgm:pt modelId="{34BCB963-6EBB-9B47-BC64-67AED14CED59}" type="parTrans" cxnId="{A17970A1-8395-5846-B5CD-529581A17C11}">
      <dgm:prSet/>
      <dgm:spPr/>
      <dgm:t>
        <a:bodyPr/>
        <a:lstStyle/>
        <a:p>
          <a:endParaRPr lang="en-GB"/>
        </a:p>
      </dgm:t>
    </dgm:pt>
    <dgm:pt modelId="{F821C19F-373C-5544-85F5-5D0275C1DEBE}" type="sibTrans" cxnId="{A17970A1-8395-5846-B5CD-529581A17C11}">
      <dgm:prSet/>
      <dgm:spPr/>
      <dgm:t>
        <a:bodyPr/>
        <a:lstStyle/>
        <a:p>
          <a:endParaRPr lang="en-GB"/>
        </a:p>
      </dgm:t>
    </dgm:pt>
    <dgm:pt modelId="{A64E9420-2868-E548-B3E0-4D7A1DAC470E}">
      <dgm:prSet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r>
            <a:rPr lang="en-NL" dirty="0"/>
            <a:t>manage assignments</a:t>
          </a:r>
        </a:p>
      </dgm:t>
    </dgm:pt>
    <dgm:pt modelId="{67C69209-EE5C-EB47-A8FB-99EBC18D25EB}" type="parTrans" cxnId="{BE4C85FF-2F51-BD42-BB37-DFFC4EA29AFD}">
      <dgm:prSet/>
      <dgm:spPr/>
      <dgm:t>
        <a:bodyPr/>
        <a:lstStyle/>
        <a:p>
          <a:endParaRPr lang="en-GB"/>
        </a:p>
      </dgm:t>
    </dgm:pt>
    <dgm:pt modelId="{8859D5B3-F1DE-624B-A9A6-EE81A72914D5}" type="sibTrans" cxnId="{BE4C85FF-2F51-BD42-BB37-DFFC4EA29AFD}">
      <dgm:prSet/>
      <dgm:spPr/>
      <dgm:t>
        <a:bodyPr/>
        <a:lstStyle/>
        <a:p>
          <a:endParaRPr lang="en-GB"/>
        </a:p>
      </dgm:t>
    </dgm:pt>
    <dgm:pt modelId="{593EFC01-6272-1C43-96C8-AE7683090F8E}" type="pres">
      <dgm:prSet presAssocID="{942C96D8-D49B-C844-A38E-5026F2A394EA}" presName="Name0" presStyleCnt="0">
        <dgm:presLayoutVars>
          <dgm:dir/>
          <dgm:animLvl val="lvl"/>
          <dgm:resizeHandles val="exact"/>
        </dgm:presLayoutVars>
      </dgm:prSet>
      <dgm:spPr/>
    </dgm:pt>
    <dgm:pt modelId="{555F7017-2103-294A-9EB3-1A1AE4F78A5D}" type="pres">
      <dgm:prSet presAssocID="{A3ACDC88-6C72-1342-841F-DB773E7DF53D}" presName="composite" presStyleCnt="0"/>
      <dgm:spPr/>
    </dgm:pt>
    <dgm:pt modelId="{F2536E7F-977E-E041-8F97-BB0C37125EDA}" type="pres">
      <dgm:prSet presAssocID="{A3ACDC88-6C72-1342-841F-DB773E7DF53D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3867434B-1C23-3340-AADB-18C867712A65}" type="pres">
      <dgm:prSet presAssocID="{A3ACDC88-6C72-1342-841F-DB773E7DF53D}" presName="desTx" presStyleLbl="alignAccFollowNode1" presStyleIdx="0" presStyleCnt="4">
        <dgm:presLayoutVars>
          <dgm:bulletEnabled val="1"/>
        </dgm:presLayoutVars>
      </dgm:prSet>
      <dgm:spPr/>
    </dgm:pt>
    <dgm:pt modelId="{83D279C6-FBAB-174E-9FFB-B09821E740D5}" type="pres">
      <dgm:prSet presAssocID="{51971640-7441-554F-998D-BF73C654321F}" presName="space" presStyleCnt="0"/>
      <dgm:spPr/>
    </dgm:pt>
    <dgm:pt modelId="{159E92DD-46AF-A24B-92E0-5D6BDED3BEB5}" type="pres">
      <dgm:prSet presAssocID="{53DE3E57-21A1-C341-9EE0-6F91AA225974}" presName="composite" presStyleCnt="0"/>
      <dgm:spPr/>
    </dgm:pt>
    <dgm:pt modelId="{FB25CC37-87A9-8C4F-B7C6-3FE2AE69C9B5}" type="pres">
      <dgm:prSet presAssocID="{53DE3E57-21A1-C341-9EE0-6F91AA225974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12876979-4640-204D-AFDB-F99197924A52}" type="pres">
      <dgm:prSet presAssocID="{53DE3E57-21A1-C341-9EE0-6F91AA225974}" presName="desTx" presStyleLbl="alignAccFollowNode1" presStyleIdx="1" presStyleCnt="4">
        <dgm:presLayoutVars>
          <dgm:bulletEnabled val="1"/>
        </dgm:presLayoutVars>
      </dgm:prSet>
      <dgm:spPr/>
    </dgm:pt>
    <dgm:pt modelId="{4955A4CC-AA9B-684F-9871-62C8E9A05CB1}" type="pres">
      <dgm:prSet presAssocID="{5762EB1F-7219-7240-A0D1-8EAFFD77FC38}" presName="space" presStyleCnt="0"/>
      <dgm:spPr/>
    </dgm:pt>
    <dgm:pt modelId="{33B35B11-3B29-714E-B562-93A66CD4BA9A}" type="pres">
      <dgm:prSet presAssocID="{4A86FC47-9D1B-6740-ADC4-0708EB212A8F}" presName="composite" presStyleCnt="0"/>
      <dgm:spPr/>
    </dgm:pt>
    <dgm:pt modelId="{E6E072EA-6380-B946-811C-A8084E9F2014}" type="pres">
      <dgm:prSet presAssocID="{4A86FC47-9D1B-6740-ADC4-0708EB212A8F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49680343-6FF9-1240-B7D2-2954A188F490}" type="pres">
      <dgm:prSet presAssocID="{4A86FC47-9D1B-6740-ADC4-0708EB212A8F}" presName="desTx" presStyleLbl="alignAccFollowNode1" presStyleIdx="2" presStyleCnt="4">
        <dgm:presLayoutVars>
          <dgm:bulletEnabled val="1"/>
        </dgm:presLayoutVars>
      </dgm:prSet>
      <dgm:spPr/>
    </dgm:pt>
    <dgm:pt modelId="{53A42292-619B-DE4B-AD85-5E805493C851}" type="pres">
      <dgm:prSet presAssocID="{FCD3A251-9E36-9444-9BC6-3AA8AC4BF2EE}" presName="space" presStyleCnt="0"/>
      <dgm:spPr/>
    </dgm:pt>
    <dgm:pt modelId="{2C903F6D-B11F-7448-8837-350DBB5791E9}" type="pres">
      <dgm:prSet presAssocID="{0573551D-6E30-6C43-A193-F8B7978F02C0}" presName="composite" presStyleCnt="0"/>
      <dgm:spPr/>
    </dgm:pt>
    <dgm:pt modelId="{28FD64C2-4CCE-9A4D-939A-E0F3521B2D10}" type="pres">
      <dgm:prSet presAssocID="{0573551D-6E30-6C43-A193-F8B7978F02C0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378C93E1-3477-CC45-B7EA-D11C6C4BC06F}" type="pres">
      <dgm:prSet presAssocID="{0573551D-6E30-6C43-A193-F8B7978F02C0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B8004B0E-EAB9-E241-A685-62073FEA256F}" srcId="{A3ACDC88-6C72-1342-841F-DB773E7DF53D}" destId="{01589CD2-F3EE-1640-A62C-792BDC227989}" srcOrd="0" destOrd="0" parTransId="{E1C84C85-3093-2E47-858F-A580927455B3}" sibTransId="{5426C94A-CDF5-B744-8F9C-E7B7DB2FE199}"/>
    <dgm:cxn modelId="{A192410F-69F2-8141-959A-A22885DBBCBD}" type="presOf" srcId="{A64E9420-2868-E548-B3E0-4D7A1DAC470E}" destId="{378C93E1-3477-CC45-B7EA-D11C6C4BC06F}" srcOrd="0" destOrd="0" presId="urn:microsoft.com/office/officeart/2005/8/layout/hList1"/>
    <dgm:cxn modelId="{899BB91A-A4F5-7C4B-AE43-EC49ED954DE4}" srcId="{942C96D8-D49B-C844-A38E-5026F2A394EA}" destId="{53DE3E57-21A1-C341-9EE0-6F91AA225974}" srcOrd="1" destOrd="0" parTransId="{CFD84A1E-78B9-334F-9975-5B296D95E6AF}" sibTransId="{5762EB1F-7219-7240-A0D1-8EAFFD77FC38}"/>
    <dgm:cxn modelId="{EF373C23-A34D-794E-9AC4-4161B2FBD16D}" type="presOf" srcId="{01589CD2-F3EE-1640-A62C-792BDC227989}" destId="{3867434B-1C23-3340-AADB-18C867712A65}" srcOrd="0" destOrd="0" presId="urn:microsoft.com/office/officeart/2005/8/layout/hList1"/>
    <dgm:cxn modelId="{4B458B2B-CDB1-7F48-BCDE-0B98AEED05FF}" type="presOf" srcId="{0573551D-6E30-6C43-A193-F8B7978F02C0}" destId="{28FD64C2-4CCE-9A4D-939A-E0F3521B2D10}" srcOrd="0" destOrd="0" presId="urn:microsoft.com/office/officeart/2005/8/layout/hList1"/>
    <dgm:cxn modelId="{E6956336-A14A-2741-BE16-44E23D970CF7}" type="presOf" srcId="{A3ACDC88-6C72-1342-841F-DB773E7DF53D}" destId="{F2536E7F-977E-E041-8F97-BB0C37125EDA}" srcOrd="0" destOrd="0" presId="urn:microsoft.com/office/officeart/2005/8/layout/hList1"/>
    <dgm:cxn modelId="{615AAF42-F93B-BE4B-BAD5-4C0B0ABDFEE3}" srcId="{A3ACDC88-6C72-1342-841F-DB773E7DF53D}" destId="{DC64D9D9-A7B1-4E48-9AEE-D05BA93A6ED6}" srcOrd="1" destOrd="0" parTransId="{3F62B1F7-3A91-5645-A7C0-DEFC5CF2AD81}" sibTransId="{E457F35B-9EA2-3E40-8612-103F50E87176}"/>
    <dgm:cxn modelId="{26EFAF57-EED3-974D-8274-38682CA53F9F}" type="presOf" srcId="{43B80FAF-5B76-514F-A503-7143F1D9CE4F}" destId="{49680343-6FF9-1240-B7D2-2954A188F490}" srcOrd="0" destOrd="0" presId="urn:microsoft.com/office/officeart/2005/8/layout/hList1"/>
    <dgm:cxn modelId="{4DCA9468-DC93-134B-92B6-C0CC167712B2}" type="presOf" srcId="{F85E7767-76D0-564D-8693-09CD547F70F1}" destId="{12876979-4640-204D-AFDB-F99197924A52}" srcOrd="0" destOrd="0" presId="urn:microsoft.com/office/officeart/2005/8/layout/hList1"/>
    <dgm:cxn modelId="{D91E9872-B2E6-9646-A3C5-2532D09C784F}" srcId="{53DE3E57-21A1-C341-9EE0-6F91AA225974}" destId="{27F09923-A646-D340-B0BB-901E5A79FB3E}" srcOrd="1" destOrd="0" parTransId="{54AF4A14-7492-614C-B9EE-D4A33E919ED9}" sibTransId="{956A9FC8-A100-8C42-B0FF-D7332D03FA1D}"/>
    <dgm:cxn modelId="{0DCD3974-501D-2047-9061-E7E9352E03B5}" type="presOf" srcId="{DC64D9D9-A7B1-4E48-9AEE-D05BA93A6ED6}" destId="{3867434B-1C23-3340-AADB-18C867712A65}" srcOrd="0" destOrd="1" presId="urn:microsoft.com/office/officeart/2005/8/layout/hList1"/>
    <dgm:cxn modelId="{F29FAA8C-EAFB-E845-B523-4A6D7A79AA7D}" type="presOf" srcId="{942C96D8-D49B-C844-A38E-5026F2A394EA}" destId="{593EFC01-6272-1C43-96C8-AE7683090F8E}" srcOrd="0" destOrd="0" presId="urn:microsoft.com/office/officeart/2005/8/layout/hList1"/>
    <dgm:cxn modelId="{D4B3D58D-C77C-924E-8171-FA47894382C6}" srcId="{942C96D8-D49B-C844-A38E-5026F2A394EA}" destId="{A3ACDC88-6C72-1342-841F-DB773E7DF53D}" srcOrd="0" destOrd="0" parTransId="{413CF0CE-D310-8442-9725-BDA0D50CCABC}" sibTransId="{51971640-7441-554F-998D-BF73C654321F}"/>
    <dgm:cxn modelId="{A17970A1-8395-5846-B5CD-529581A17C11}" srcId="{942C96D8-D49B-C844-A38E-5026F2A394EA}" destId="{0573551D-6E30-6C43-A193-F8B7978F02C0}" srcOrd="3" destOrd="0" parTransId="{34BCB963-6EBB-9B47-BC64-67AED14CED59}" sibTransId="{F821C19F-373C-5544-85F5-5D0275C1DEBE}"/>
    <dgm:cxn modelId="{BBD64DA5-D15E-EB48-A217-50A39DD65C49}" srcId="{53DE3E57-21A1-C341-9EE0-6F91AA225974}" destId="{F85E7767-76D0-564D-8693-09CD547F70F1}" srcOrd="0" destOrd="0" parTransId="{E33E5582-9D99-0040-A64F-C7A0B468C421}" sibTransId="{E3DEAE74-B0AB-E944-B18B-BB1E36977D60}"/>
    <dgm:cxn modelId="{A384A9BA-B44B-B743-9654-B12ADDF372D1}" srcId="{942C96D8-D49B-C844-A38E-5026F2A394EA}" destId="{4A86FC47-9D1B-6740-ADC4-0708EB212A8F}" srcOrd="2" destOrd="0" parTransId="{FA59BA34-7408-844D-82D5-B5B7D9A678AE}" sibTransId="{FCD3A251-9E36-9444-9BC6-3AA8AC4BF2EE}"/>
    <dgm:cxn modelId="{47E788C3-D4C9-DC4A-A0EE-A14512F59B5F}" srcId="{4A86FC47-9D1B-6740-ADC4-0708EB212A8F}" destId="{43B80FAF-5B76-514F-A503-7143F1D9CE4F}" srcOrd="0" destOrd="0" parTransId="{126B6EAB-F1AC-FC49-9A5C-2D66599DD021}" sibTransId="{0ED0914B-D731-5C44-89E6-EA0538D76976}"/>
    <dgm:cxn modelId="{419608D1-5A17-F44F-89F9-1EDC3326892E}" type="presOf" srcId="{53DE3E57-21A1-C341-9EE0-6F91AA225974}" destId="{FB25CC37-87A9-8C4F-B7C6-3FE2AE69C9B5}" srcOrd="0" destOrd="0" presId="urn:microsoft.com/office/officeart/2005/8/layout/hList1"/>
    <dgm:cxn modelId="{D3421DDC-34E1-A446-9B11-584540814EB0}" type="presOf" srcId="{27F09923-A646-D340-B0BB-901E5A79FB3E}" destId="{12876979-4640-204D-AFDB-F99197924A52}" srcOrd="0" destOrd="1" presId="urn:microsoft.com/office/officeart/2005/8/layout/hList1"/>
    <dgm:cxn modelId="{7083DDE9-2CC6-9047-ADE3-C66D46E856C9}" type="presOf" srcId="{4A86FC47-9D1B-6740-ADC4-0708EB212A8F}" destId="{E6E072EA-6380-B946-811C-A8084E9F2014}" srcOrd="0" destOrd="0" presId="urn:microsoft.com/office/officeart/2005/8/layout/hList1"/>
    <dgm:cxn modelId="{BE4C85FF-2F51-BD42-BB37-DFFC4EA29AFD}" srcId="{0573551D-6E30-6C43-A193-F8B7978F02C0}" destId="{A64E9420-2868-E548-B3E0-4D7A1DAC470E}" srcOrd="0" destOrd="0" parTransId="{67C69209-EE5C-EB47-A8FB-99EBC18D25EB}" sibTransId="{8859D5B3-F1DE-624B-A9A6-EE81A72914D5}"/>
    <dgm:cxn modelId="{68703C43-C5B2-2847-A72E-AACEA527775A}" type="presParOf" srcId="{593EFC01-6272-1C43-96C8-AE7683090F8E}" destId="{555F7017-2103-294A-9EB3-1A1AE4F78A5D}" srcOrd="0" destOrd="0" presId="urn:microsoft.com/office/officeart/2005/8/layout/hList1"/>
    <dgm:cxn modelId="{B212C840-1967-9C43-8BA1-A4EE6C9962AD}" type="presParOf" srcId="{555F7017-2103-294A-9EB3-1A1AE4F78A5D}" destId="{F2536E7F-977E-E041-8F97-BB0C37125EDA}" srcOrd="0" destOrd="0" presId="urn:microsoft.com/office/officeart/2005/8/layout/hList1"/>
    <dgm:cxn modelId="{F8BA0BF9-C07F-9548-9B9A-E170B4C4C785}" type="presParOf" srcId="{555F7017-2103-294A-9EB3-1A1AE4F78A5D}" destId="{3867434B-1C23-3340-AADB-18C867712A65}" srcOrd="1" destOrd="0" presId="urn:microsoft.com/office/officeart/2005/8/layout/hList1"/>
    <dgm:cxn modelId="{060F5364-637B-184C-918D-EEFED85414E7}" type="presParOf" srcId="{593EFC01-6272-1C43-96C8-AE7683090F8E}" destId="{83D279C6-FBAB-174E-9FFB-B09821E740D5}" srcOrd="1" destOrd="0" presId="urn:microsoft.com/office/officeart/2005/8/layout/hList1"/>
    <dgm:cxn modelId="{833F217C-830B-8442-9609-76882491F3AC}" type="presParOf" srcId="{593EFC01-6272-1C43-96C8-AE7683090F8E}" destId="{159E92DD-46AF-A24B-92E0-5D6BDED3BEB5}" srcOrd="2" destOrd="0" presId="urn:microsoft.com/office/officeart/2005/8/layout/hList1"/>
    <dgm:cxn modelId="{B869964D-C5F5-8043-92CC-661877176A71}" type="presParOf" srcId="{159E92DD-46AF-A24B-92E0-5D6BDED3BEB5}" destId="{FB25CC37-87A9-8C4F-B7C6-3FE2AE69C9B5}" srcOrd="0" destOrd="0" presId="urn:microsoft.com/office/officeart/2005/8/layout/hList1"/>
    <dgm:cxn modelId="{705324B5-DCC5-2F4F-B2BA-92817C0896C0}" type="presParOf" srcId="{159E92DD-46AF-A24B-92E0-5D6BDED3BEB5}" destId="{12876979-4640-204D-AFDB-F99197924A52}" srcOrd="1" destOrd="0" presId="urn:microsoft.com/office/officeart/2005/8/layout/hList1"/>
    <dgm:cxn modelId="{1D60216D-20A7-9C42-A88A-E0A00FA6E87F}" type="presParOf" srcId="{593EFC01-6272-1C43-96C8-AE7683090F8E}" destId="{4955A4CC-AA9B-684F-9871-62C8E9A05CB1}" srcOrd="3" destOrd="0" presId="urn:microsoft.com/office/officeart/2005/8/layout/hList1"/>
    <dgm:cxn modelId="{3EE91B4A-0B03-CF43-9862-558534F3684A}" type="presParOf" srcId="{593EFC01-6272-1C43-96C8-AE7683090F8E}" destId="{33B35B11-3B29-714E-B562-93A66CD4BA9A}" srcOrd="4" destOrd="0" presId="urn:microsoft.com/office/officeart/2005/8/layout/hList1"/>
    <dgm:cxn modelId="{70FEAA06-0419-224C-9835-3BBB5BAA78F5}" type="presParOf" srcId="{33B35B11-3B29-714E-B562-93A66CD4BA9A}" destId="{E6E072EA-6380-B946-811C-A8084E9F2014}" srcOrd="0" destOrd="0" presId="urn:microsoft.com/office/officeart/2005/8/layout/hList1"/>
    <dgm:cxn modelId="{B0703AC4-DC06-174A-87F9-3CAAB3155E16}" type="presParOf" srcId="{33B35B11-3B29-714E-B562-93A66CD4BA9A}" destId="{49680343-6FF9-1240-B7D2-2954A188F490}" srcOrd="1" destOrd="0" presId="urn:microsoft.com/office/officeart/2005/8/layout/hList1"/>
    <dgm:cxn modelId="{FE8C40C9-05CD-3942-8FAE-11F6752FAEEA}" type="presParOf" srcId="{593EFC01-6272-1C43-96C8-AE7683090F8E}" destId="{53A42292-619B-DE4B-AD85-5E805493C851}" srcOrd="5" destOrd="0" presId="urn:microsoft.com/office/officeart/2005/8/layout/hList1"/>
    <dgm:cxn modelId="{270DF218-21D5-094C-B004-C7FCF4ED0510}" type="presParOf" srcId="{593EFC01-6272-1C43-96C8-AE7683090F8E}" destId="{2C903F6D-B11F-7448-8837-350DBB5791E9}" srcOrd="6" destOrd="0" presId="urn:microsoft.com/office/officeart/2005/8/layout/hList1"/>
    <dgm:cxn modelId="{0F16DEA9-6D2B-684E-A89F-B30261E7A257}" type="presParOf" srcId="{2C903F6D-B11F-7448-8837-350DBB5791E9}" destId="{28FD64C2-4CCE-9A4D-939A-E0F3521B2D10}" srcOrd="0" destOrd="0" presId="urn:microsoft.com/office/officeart/2005/8/layout/hList1"/>
    <dgm:cxn modelId="{1611A5A6-AEFB-BC46-8F37-86A9A7A091CE}" type="presParOf" srcId="{2C903F6D-B11F-7448-8837-350DBB5791E9}" destId="{378C93E1-3477-CC45-B7EA-D11C6C4BC06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536E7F-977E-E041-8F97-BB0C37125EDA}">
      <dsp:nvSpPr>
        <dsp:cNvPr id="0" name=""/>
        <dsp:cNvSpPr/>
      </dsp:nvSpPr>
      <dsp:spPr>
        <a:xfrm>
          <a:off x="3953" y="855616"/>
          <a:ext cx="2377306" cy="748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2600" kern="1200" dirty="0"/>
            <a:t>VS Code</a:t>
          </a:r>
        </a:p>
      </dsp:txBody>
      <dsp:txXfrm>
        <a:off x="3953" y="855616"/>
        <a:ext cx="2377306" cy="748800"/>
      </dsp:txXfrm>
    </dsp:sp>
    <dsp:sp modelId="{3867434B-1C23-3340-AADB-18C867712A65}">
      <dsp:nvSpPr>
        <dsp:cNvPr id="0" name=""/>
        <dsp:cNvSpPr/>
      </dsp:nvSpPr>
      <dsp:spPr>
        <a:xfrm>
          <a:off x="3953" y="1604416"/>
          <a:ext cx="2377306" cy="18913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L" sz="2600" kern="1200" dirty="0"/>
            <a:t>popular editor 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L" sz="2600" kern="1200" dirty="0"/>
            <a:t>online or local</a:t>
          </a:r>
        </a:p>
      </dsp:txBody>
      <dsp:txXfrm>
        <a:off x="3953" y="1604416"/>
        <a:ext cx="2377306" cy="1891305"/>
      </dsp:txXfrm>
    </dsp:sp>
    <dsp:sp modelId="{FB25CC37-87A9-8C4F-B7C6-3FE2AE69C9B5}">
      <dsp:nvSpPr>
        <dsp:cNvPr id="0" name=""/>
        <dsp:cNvSpPr/>
      </dsp:nvSpPr>
      <dsp:spPr>
        <a:xfrm>
          <a:off x="2714082" y="855616"/>
          <a:ext cx="2377306" cy="748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D</a:t>
          </a:r>
          <a:r>
            <a:rPr lang="en-NL" sz="2600" kern="1200" dirty="0"/>
            <a:t>ev container</a:t>
          </a:r>
        </a:p>
      </dsp:txBody>
      <dsp:txXfrm>
        <a:off x="2714082" y="855616"/>
        <a:ext cx="2377306" cy="748800"/>
      </dsp:txXfrm>
    </dsp:sp>
    <dsp:sp modelId="{12876979-4640-204D-AFDB-F99197924A52}">
      <dsp:nvSpPr>
        <dsp:cNvPr id="0" name=""/>
        <dsp:cNvSpPr/>
      </dsp:nvSpPr>
      <dsp:spPr>
        <a:xfrm>
          <a:off x="2714082" y="1604416"/>
          <a:ext cx="2377306" cy="18913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L" sz="2600" kern="1200" dirty="0"/>
            <a:t>execute online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600" kern="1200" dirty="0"/>
            <a:t>s</a:t>
          </a:r>
          <a:r>
            <a:rPr lang="en-NL" sz="2600" kern="1200" dirty="0"/>
            <a:t>upports docker</a:t>
          </a:r>
        </a:p>
      </dsp:txBody>
      <dsp:txXfrm>
        <a:off x="2714082" y="1604416"/>
        <a:ext cx="2377306" cy="1891305"/>
      </dsp:txXfrm>
    </dsp:sp>
    <dsp:sp modelId="{E6E072EA-6380-B946-811C-A8084E9F2014}">
      <dsp:nvSpPr>
        <dsp:cNvPr id="0" name=""/>
        <dsp:cNvSpPr/>
      </dsp:nvSpPr>
      <dsp:spPr>
        <a:xfrm>
          <a:off x="5424211" y="855616"/>
          <a:ext cx="2377306" cy="748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2600" kern="1200" dirty="0"/>
            <a:t>GitHub</a:t>
          </a:r>
        </a:p>
      </dsp:txBody>
      <dsp:txXfrm>
        <a:off x="5424211" y="855616"/>
        <a:ext cx="2377306" cy="748800"/>
      </dsp:txXfrm>
    </dsp:sp>
    <dsp:sp modelId="{49680343-6FF9-1240-B7D2-2954A188F490}">
      <dsp:nvSpPr>
        <dsp:cNvPr id="0" name=""/>
        <dsp:cNvSpPr/>
      </dsp:nvSpPr>
      <dsp:spPr>
        <a:xfrm>
          <a:off x="5424211" y="1604416"/>
          <a:ext cx="2377306" cy="18913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L" sz="2600" kern="1200" dirty="0"/>
            <a:t>git version control</a:t>
          </a:r>
        </a:p>
      </dsp:txBody>
      <dsp:txXfrm>
        <a:off x="5424211" y="1604416"/>
        <a:ext cx="2377306" cy="1891305"/>
      </dsp:txXfrm>
    </dsp:sp>
    <dsp:sp modelId="{28FD64C2-4CCE-9A4D-939A-E0F3521B2D10}">
      <dsp:nvSpPr>
        <dsp:cNvPr id="0" name=""/>
        <dsp:cNvSpPr/>
      </dsp:nvSpPr>
      <dsp:spPr>
        <a:xfrm>
          <a:off x="8134340" y="855616"/>
          <a:ext cx="2377306" cy="748800"/>
        </a:xfrm>
        <a:prstGeom prst="rect">
          <a:avLst/>
        </a:prstGeom>
        <a:solidFill>
          <a:schemeClr val="accent6">
            <a:lumMod val="7500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L" sz="2600" kern="1200" dirty="0"/>
            <a:t>Classroom</a:t>
          </a:r>
        </a:p>
      </dsp:txBody>
      <dsp:txXfrm>
        <a:off x="8134340" y="855616"/>
        <a:ext cx="2377306" cy="748800"/>
      </dsp:txXfrm>
    </dsp:sp>
    <dsp:sp modelId="{378C93E1-3477-CC45-B7EA-D11C6C4BC06F}">
      <dsp:nvSpPr>
        <dsp:cNvPr id="0" name=""/>
        <dsp:cNvSpPr/>
      </dsp:nvSpPr>
      <dsp:spPr>
        <a:xfrm>
          <a:off x="8134340" y="1604416"/>
          <a:ext cx="2377306" cy="1891305"/>
        </a:xfrm>
        <a:prstGeom prst="rect">
          <a:avLst/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NL" sz="2600" kern="1200" dirty="0"/>
            <a:t>manage assignments</a:t>
          </a:r>
        </a:p>
      </dsp:txBody>
      <dsp:txXfrm>
        <a:off x="8134340" y="1604416"/>
        <a:ext cx="2377306" cy="18913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B1B5A4-1E93-6143-A106-37CAD630C56A}" type="datetimeFigureOut">
              <a:rPr lang="en-NL" smtClean="0"/>
              <a:t>23/03/2026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C3F037-B47E-584C-B68B-4A55DFC0A69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21267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3C768-59E1-A331-477E-95AA8DA37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84B84A-6F8D-7425-1E41-B2D4E7D336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7F1F61-FC4F-A32A-A02B-0E45A9CC3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02F29-4940-1C8D-5E61-C9DC8C1A74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C3F037-B47E-584C-B68B-4A55DFC0A699}" type="slidenum">
              <a:rPr lang="en-NL" smtClean="0"/>
              <a:t>14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95334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omputer script on a screen">
            <a:extLst>
              <a:ext uri="{FF2B5EF4-FFF2-40B4-BE49-F238E27FC236}">
                <a16:creationId xmlns:a16="http://schemas.microsoft.com/office/drawing/2014/main" id="{A107DECC-3521-1870-4933-2517E1C0DD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5625" b="10105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40B251-C220-91A8-D7C1-8AB53A0340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568109-6DEF-598F-3452-544E75C22E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00B51-2885-CB0F-B7E1-EBF83D31F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8B726-9787-C649-B4A2-CCA66B241179}" type="datetimeFigureOut">
              <a:rPr lang="en-NL" smtClean="0"/>
              <a:t>23/03/2026</a:t>
            </a:fld>
            <a:endParaRPr lang="en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CC469-60AD-6220-AEC2-293291D87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C9967-C12D-1502-7D60-AB81AF059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764B9-23CC-8345-86BC-1510A0B1E5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91871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246A6-B9DC-C687-4D21-473980209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037F9-24B0-8F7C-7195-4CFC201B5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50C2B-99BE-50B3-6BD3-CDC321A2F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8B726-9787-C649-B4A2-CCA66B241179}" type="datetimeFigureOut">
              <a:rPr lang="en-NL" smtClean="0"/>
              <a:t>23/03/2026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6BDF3-CADC-105B-8192-DD7391504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52A67-9C41-405B-F66C-A42DBF1BE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764B9-23CC-8345-86BC-1510A0B1E5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54197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4441B-4B71-E6EE-F7C3-5ED12A88C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84A5A9-A85F-4997-BF94-88118291A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2D298-C1F4-0960-544F-AF6283260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8B726-9787-C649-B4A2-CCA66B241179}" type="datetimeFigureOut">
              <a:rPr lang="en-NL" smtClean="0"/>
              <a:t>23/03/2026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1F21D-88EF-B889-438C-94EE62D2F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7F842-84D1-2E53-A92A-8F2164289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764B9-23CC-8345-86BC-1510A0B1E5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66615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9627F-13AB-9785-9837-328D81C1E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F4B04-8EC2-99CE-200B-BDFE358C61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BE7096-1001-EEDD-0B3A-E61CA2EE4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5F06A-841E-1FED-8258-B711F133A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8B726-9787-C649-B4A2-CCA66B241179}" type="datetimeFigureOut">
              <a:rPr lang="en-NL" smtClean="0"/>
              <a:t>23/03/2026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6F49FC-51BD-7297-8045-1D3C6D40A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F86202-0E86-121B-19A7-5CDD17617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764B9-23CC-8345-86BC-1510A0B1E5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64845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8E164-50F1-14E2-30B2-8EE508ED8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EBEF8-C4E1-27E2-4D2C-2E6903B8B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7E7F94-A4DA-97EC-3B92-2C27C6585E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BFB9E7-9C3A-BBF9-AE45-26F2A7900A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07E968-A171-C44F-B865-B6A8B832E8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E2B9E4-66F0-6CBA-94D1-2CB7A015B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8B726-9787-C649-B4A2-CCA66B241179}" type="datetimeFigureOut">
              <a:rPr lang="en-NL" smtClean="0"/>
              <a:t>23/03/2026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2B6D8B-FDED-F432-B777-F5EEA1996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9F4511-F289-1685-1507-E0599518F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764B9-23CC-8345-86BC-1510A0B1E5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2320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42C28-A0C3-61C5-D3BA-3B23116F4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AA22C6-4C8B-47D6-6C07-B8B2CA5DF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8B726-9787-C649-B4A2-CCA66B241179}" type="datetimeFigureOut">
              <a:rPr lang="en-NL" smtClean="0"/>
              <a:t>23/03/2026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6FA7B1-6AF5-B6F2-E967-D088AE48F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8D078F-A1CC-EFE5-F407-E21D4459C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764B9-23CC-8345-86BC-1510A0B1E5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37574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8E210F-6B58-02F4-F62E-E87B8DFFF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8B726-9787-C649-B4A2-CCA66B241179}" type="datetimeFigureOut">
              <a:rPr lang="en-NL" smtClean="0"/>
              <a:t>23/03/2026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338457-A63C-779D-B509-61F1B361C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0243CF-E138-4184-8C08-E7784750E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764B9-23CC-8345-86BC-1510A0B1E5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43503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63CFF-F967-BF88-BE95-6DA1B0CB4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AF538-FEF2-9DA7-86F6-F40F34849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A85AD8-81FB-C138-2C1B-B3F980234A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A39FA-2D8D-BF2C-8E2A-5EF42AFD2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8B726-9787-C649-B4A2-CCA66B241179}" type="datetimeFigureOut">
              <a:rPr lang="en-NL" smtClean="0"/>
              <a:t>23/03/2026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633DCE-8675-D481-CE23-E7D39A238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6EF271-2DD0-A873-FC6A-386E82928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764B9-23CC-8345-86BC-1510A0B1E5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19279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821BD-E006-16B6-A3F3-298A09714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6FDCA3-C08F-2FCC-48F6-1E2B88962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533300-6CFA-4CF5-FEE2-2C184B5C4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DF6686-2C13-82A1-4408-06BEEC304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8B726-9787-C649-B4A2-CCA66B241179}" type="datetimeFigureOut">
              <a:rPr lang="en-NL" smtClean="0"/>
              <a:t>23/03/2026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36DE66-C4C6-4614-1F14-67E289FA4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FA508F-3E9A-9E8F-3C05-F1DEAE448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764B9-23CC-8345-86BC-1510A0B1E5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15161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879A8-CE4C-5B48-0154-052B37B6B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4E4955-89DD-246A-9D99-70B9F19F1A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0F0A7-21B8-268E-F62B-EBAEF3FD4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8B726-9787-C649-B4A2-CCA66B241179}" type="datetimeFigureOut">
              <a:rPr lang="en-NL" smtClean="0"/>
              <a:t>23/03/2026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DCB8E-5644-4E53-432C-58693C785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0B611-FCB3-BBA2-5163-CA251533A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764B9-23CC-8345-86BC-1510A0B1E5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04059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AA0202-3038-085A-A577-477CB3E839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DDB482-7676-E1E0-A848-9F37DE34D9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92730D-A43D-0D5C-381E-1C740D3EE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8B726-9787-C649-B4A2-CCA66B241179}" type="datetimeFigureOut">
              <a:rPr lang="en-NL" smtClean="0"/>
              <a:t>23/03/2026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357BB-9B9B-80AB-1C88-3DBC42A44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D773E-4C3F-B752-71E9-3ACCEBD22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764B9-23CC-8345-86BC-1510A0B1E5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21331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3D677A-57D8-C7D1-6853-249B9089B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1DD994-298A-3620-12D6-1A31612D9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B0FAA-CE3D-A11B-A0BC-08530DD36B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28B726-9787-C649-B4A2-CCA66B241179}" type="datetimeFigureOut">
              <a:rPr lang="en-NL" smtClean="0"/>
              <a:t>23/03/2026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26351-9695-743B-D58A-4D75702D8D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77A05-CEEE-AC78-7B07-CC43A465F0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7764B9-23CC-8345-86BC-1510A0B1E54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93815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formatica-actief/python-template" TargetMode="External"/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informatica-actief/html-template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github.com/" TargetMode="External"/><Relationship Id="rId3" Type="http://schemas.openxmlformats.org/officeDocument/2006/relationships/hyperlink" Target="https://stanislas.informatica.nu/help/codespaces/" TargetMode="External"/><Relationship Id="rId7" Type="http://schemas.openxmlformats.org/officeDocument/2006/relationships/hyperlink" Target="https://code.visualstudio.com/docs" TargetMode="External"/><Relationship Id="rId2" Type="http://schemas.openxmlformats.org/officeDocument/2006/relationships/hyperlink" Target="https://github.com/Informatica-Actief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github.com/en/codespaces/about-codespaces/what-are-codespaces" TargetMode="External"/><Relationship Id="rId5" Type="http://schemas.openxmlformats.org/officeDocument/2006/relationships/hyperlink" Target="https://www.informatica-actief.nl/" TargetMode="External"/><Relationship Id="rId4" Type="http://schemas.openxmlformats.org/officeDocument/2006/relationships/hyperlink" Target="https://stanislas.informatica.nu/docenten/codespaces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api/advanced-topics/remote-extensions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codespaces/about-codespaces/what-are-codespaces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marketplace/actions/gitflow-workflow-action" TargetMode="External"/><Relationship Id="rId4" Type="http://schemas.openxmlformats.org/officeDocument/2006/relationships/hyperlink" Target="https://bytebytego.com/guides/how-does-git-work/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informaticascw/filius" TargetMode="External"/><Relationship Id="rId3" Type="http://schemas.openxmlformats.org/officeDocument/2006/relationships/hyperlink" Target="https://github.com/informaticascw/h4v4-python-game-template" TargetMode="External"/><Relationship Id="rId7" Type="http://schemas.openxmlformats.org/officeDocument/2006/relationships/hyperlink" Target="https://github.com/informaticascw/v6-eindopdracht-php-startcode" TargetMode="External"/><Relationship Id="rId2" Type="http://schemas.openxmlformats.org/officeDocument/2006/relationships/hyperlink" Target="https://github.com/informaticascw/h4v4-python-opgaven-templat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emmauscollege/5HV-webshop-template" TargetMode="External"/><Relationship Id="rId5" Type="http://schemas.openxmlformats.org/officeDocument/2006/relationships/hyperlink" Target="https://github.com/informaticascw/h5v5-sql-webshop-template" TargetMode="External"/><Relationship Id="rId4" Type="http://schemas.openxmlformats.org/officeDocument/2006/relationships/hyperlink" Target="https://github.com/informaticascw/h4v4-html-website-template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nformatica-actief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CDD4224-1A56-0299-A17C-AD27048BE5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9" y="609669"/>
            <a:ext cx="5678905" cy="1772575"/>
          </a:xfrm>
        </p:spPr>
        <p:txBody>
          <a:bodyPr anchor="t">
            <a:normAutofit/>
          </a:bodyPr>
          <a:lstStyle/>
          <a:p>
            <a:pPr algn="l"/>
            <a:r>
              <a:rPr lang="en-NL" sz="8200" dirty="0">
                <a:solidFill>
                  <a:srgbClr val="FFFFFF"/>
                </a:solidFill>
              </a:rPr>
              <a:t>Codespaces</a:t>
            </a:r>
            <a:br>
              <a:rPr lang="en-NL" sz="3200" dirty="0">
                <a:solidFill>
                  <a:srgbClr val="FFFFFF"/>
                </a:solidFill>
              </a:rPr>
            </a:br>
            <a:r>
              <a:rPr lang="en-NL" sz="3200" dirty="0">
                <a:solidFill>
                  <a:srgbClr val="FFFFFF"/>
                </a:solidFill>
              </a:rPr>
              <a:t>Inspiratiedag 25 maart 2026</a:t>
            </a:r>
            <a:endParaRPr lang="en-NL" sz="8200" dirty="0">
              <a:solidFill>
                <a:srgbClr val="FFFFFF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BD53DC3-DB74-AD74-CB66-36E9A95004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2952" y="2424773"/>
            <a:ext cx="5815659" cy="2185528"/>
          </a:xfrm>
        </p:spPr>
        <p:txBody>
          <a:bodyPr anchor="ctr">
            <a:normAutofit/>
          </a:bodyPr>
          <a:lstStyle/>
          <a:p>
            <a:pPr algn="l"/>
            <a:r>
              <a:rPr lang="en-NL" b="1" dirty="0">
                <a:solidFill>
                  <a:srgbClr val="FFFFFF"/>
                </a:solidFill>
              </a:rPr>
              <a:t>Codespaces = ontwikkelomgeving: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NL" sz="2000" dirty="0">
                <a:solidFill>
                  <a:srgbClr val="FFFFFF"/>
                </a:solidFill>
              </a:rPr>
              <a:t>Browser based, dus ook Chromebooks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NL" sz="2000" dirty="0">
                <a:solidFill>
                  <a:srgbClr val="FFFFFF"/>
                </a:solidFill>
              </a:rPr>
              <a:t>Online samenwerken, via GitHub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NL" sz="2000" dirty="0">
                <a:solidFill>
                  <a:srgbClr val="FFFFFF"/>
                </a:solidFill>
              </a:rPr>
              <a:t>Alle programmeertalen mogelijk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NL" sz="2000" dirty="0">
                <a:solidFill>
                  <a:srgbClr val="FFFFFF"/>
                </a:solidFill>
              </a:rPr>
              <a:t>Gebruikt door professionals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2E96CF-BBAD-61A8-49DB-AADCF4DD24C8}"/>
              </a:ext>
            </a:extLst>
          </p:cNvPr>
          <p:cNvSpPr txBox="1"/>
          <p:nvPr/>
        </p:nvSpPr>
        <p:spPr>
          <a:xfrm>
            <a:off x="6092952" y="4822504"/>
            <a:ext cx="6031992" cy="1661993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br>
              <a:rPr lang="en-NL" sz="1800" dirty="0">
                <a:solidFill>
                  <a:srgbClr val="FFFFFF"/>
                </a:solidFill>
              </a:rPr>
            </a:br>
            <a:r>
              <a:rPr lang="en-NL" sz="2400" b="1" dirty="0">
                <a:solidFill>
                  <a:srgbClr val="FFFFFF"/>
                </a:solidFill>
              </a:rPr>
              <a:t>Sander van Geest</a:t>
            </a:r>
          </a:p>
          <a:p>
            <a:r>
              <a:rPr lang="en-NL" sz="2000" dirty="0">
                <a:solidFill>
                  <a:srgbClr val="FFFFFF"/>
                </a:solidFill>
              </a:rPr>
              <a:t>docent op Stanislascollege Delft</a:t>
            </a:r>
          </a:p>
          <a:p>
            <a:r>
              <a:rPr lang="en-NL" sz="2000" dirty="0">
                <a:solidFill>
                  <a:srgbClr val="FFFFFF"/>
                </a:solidFill>
              </a:rPr>
              <a:t>gees@stanislascollege.nl</a:t>
            </a:r>
            <a:endParaRPr lang="en-NL" sz="1600" dirty="0"/>
          </a:p>
          <a:p>
            <a:r>
              <a:rPr lang="nl-NL" sz="2000" dirty="0">
                <a:solidFill>
                  <a:srgbClr val="FFFFFF"/>
                </a:solidFill>
              </a:rPr>
              <a:t>vandaag hier namens</a:t>
            </a:r>
            <a:r>
              <a:rPr lang="en-NL" sz="2000" dirty="0">
                <a:solidFill>
                  <a:srgbClr val="FFFFFF"/>
                </a:solidFill>
              </a:rPr>
              <a:t> INFORMATICA-Actief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CC3753-EE5F-B9D4-41CE-97454EAFA877}"/>
              </a:ext>
            </a:extLst>
          </p:cNvPr>
          <p:cNvSpPr txBox="1"/>
          <p:nvPr/>
        </p:nvSpPr>
        <p:spPr>
          <a:xfrm>
            <a:off x="280341" y="6086924"/>
            <a:ext cx="5523127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NL" sz="1600" dirty="0"/>
              <a:t>https://stanislas.informatica.nu/docenten/bijeenkomsten/</a:t>
            </a:r>
          </a:p>
        </p:txBody>
      </p:sp>
      <p:pic>
        <p:nvPicPr>
          <p:cNvPr id="8" name="Picture 7" descr="A qr code with a black and white background&#10;&#10;AI-generated content may be incorrect.">
            <a:extLst>
              <a:ext uri="{FF2B5EF4-FFF2-40B4-BE49-F238E27FC236}">
                <a16:creationId xmlns:a16="http://schemas.microsoft.com/office/drawing/2014/main" id="{1ACDDF0E-A421-D3E2-A876-330CCE7F6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89" y="609670"/>
            <a:ext cx="5523127" cy="552312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C5B78A4-4B21-87CD-0664-E6940C62A767}"/>
              </a:ext>
            </a:extLst>
          </p:cNvPr>
          <p:cNvCxnSpPr>
            <a:cxnSpLocks/>
          </p:cNvCxnSpPr>
          <p:nvPr/>
        </p:nvCxnSpPr>
        <p:spPr>
          <a:xfrm>
            <a:off x="6092952" y="4738348"/>
            <a:ext cx="5681952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4">
                    <a:lumMod val="5000"/>
                    <a:lumOff val="95000"/>
                  </a:schemeClr>
                </a:gs>
                <a:gs pos="100000">
                  <a:schemeClr val="tx2">
                    <a:lumMod val="75000"/>
                    <a:lumOff val="25000"/>
                  </a:schemeClr>
                </a:gs>
                <a:gs pos="100000">
                  <a:schemeClr val="accent4">
                    <a:lumMod val="45000"/>
                    <a:lumOff val="55000"/>
                  </a:schemeClr>
                </a:gs>
                <a:gs pos="100000">
                  <a:schemeClr val="accent4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BAA4FA6-51B4-B7B3-7665-380D441A4479}"/>
              </a:ext>
            </a:extLst>
          </p:cNvPr>
          <p:cNvCxnSpPr>
            <a:cxnSpLocks/>
          </p:cNvCxnSpPr>
          <p:nvPr/>
        </p:nvCxnSpPr>
        <p:spPr>
          <a:xfrm>
            <a:off x="6092952" y="2382244"/>
            <a:ext cx="5681952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4">
                    <a:lumMod val="5000"/>
                    <a:lumOff val="95000"/>
                  </a:schemeClr>
                </a:gs>
                <a:gs pos="100000">
                  <a:schemeClr val="tx2">
                    <a:lumMod val="75000"/>
                    <a:lumOff val="25000"/>
                  </a:schemeClr>
                </a:gs>
                <a:gs pos="100000">
                  <a:schemeClr val="accent4">
                    <a:lumMod val="45000"/>
                    <a:lumOff val="55000"/>
                  </a:schemeClr>
                </a:gs>
                <a:gs pos="100000">
                  <a:schemeClr val="accent4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593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5314-1CC7-3798-E9C2-15CE3A07F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Wie zitten in de zaal?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B0D0B-2749-B67A-405C-FB45AE1C1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66704" cy="4351338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NL" dirty="0"/>
              <a:t>Welke leerlingdevices heeft je school?</a:t>
            </a:r>
          </a:p>
          <a:p>
            <a:pPr marL="457200" lvl="1" indent="0">
              <a:buNone/>
            </a:pPr>
            <a:r>
              <a:rPr lang="en-NL" dirty="0"/>
              <a:t>✊ Geen	☝️ Windows laptops	✌️ Chromebooks	✋ Anders</a:t>
            </a:r>
          </a:p>
          <a:p>
            <a:pPr marL="457200" lvl="1" indent="0">
              <a:buNone/>
            </a:pPr>
            <a:endParaRPr lang="en-NL" dirty="0"/>
          </a:p>
          <a:p>
            <a:pPr marL="514350" indent="-514350">
              <a:buFont typeface="+mj-lt"/>
              <a:buAutoNum type="arabicPeriod"/>
            </a:pPr>
            <a:r>
              <a:rPr lang="en-NL" dirty="0"/>
              <a:t>Welke apparaten gebruiken je leerlingen tijdens de les?</a:t>
            </a:r>
          </a:p>
          <a:p>
            <a:pPr marL="457200" lvl="1" indent="0">
              <a:buNone/>
            </a:pPr>
            <a:r>
              <a:rPr lang="en-NL" dirty="0"/>
              <a:t>✊ zelf meegenomen 					✋ wat in het lokaal staat</a:t>
            </a:r>
          </a:p>
          <a:p>
            <a:pPr marL="514350" indent="-514350">
              <a:buFont typeface="+mj-lt"/>
              <a:buAutoNum type="arabicPeriod"/>
            </a:pPr>
            <a:endParaRPr lang="en-NL" dirty="0"/>
          </a:p>
          <a:p>
            <a:pPr marL="514350" indent="-514350">
              <a:buFont typeface="+mj-lt"/>
              <a:buAutoNum type="arabicPeriod"/>
            </a:pPr>
            <a:r>
              <a:rPr lang="en-NL" dirty="0"/>
              <a:t>Ervaring met VS Code?</a:t>
            </a:r>
          </a:p>
          <a:p>
            <a:pPr marL="457200" lvl="1" indent="0">
              <a:buNone/>
            </a:pPr>
            <a:r>
              <a:rPr lang="en-NL" dirty="0"/>
              <a:t>✊ Nee 	☝️ Ik buiten de les	✌️ Ik buiten de les en leerlingen tijdens de lessen</a:t>
            </a:r>
          </a:p>
          <a:p>
            <a:pPr marL="514350" indent="-514350">
              <a:buFont typeface="+mj-lt"/>
              <a:buAutoNum type="arabicPeriod"/>
            </a:pPr>
            <a:endParaRPr lang="en-NL" dirty="0"/>
          </a:p>
          <a:p>
            <a:pPr marL="514350" indent="-514350">
              <a:buFont typeface="+mj-lt"/>
              <a:buAutoNum type="arabicPeriod"/>
            </a:pPr>
            <a:r>
              <a:rPr lang="en-NL" dirty="0"/>
              <a:t>Ervaring met git en/of GitHub?</a:t>
            </a:r>
          </a:p>
          <a:p>
            <a:pPr marL="457200" lvl="1" indent="0">
              <a:buNone/>
            </a:pPr>
            <a:r>
              <a:rPr lang="en-NL" dirty="0"/>
              <a:t>✊ Nee 	☝️ Ik buiten de les	✌️ Ik buiten de les en leerlingen tijdens de lessen</a:t>
            </a:r>
          </a:p>
          <a:p>
            <a:pPr lvl="1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766997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D6AA2-4916-6123-DBA5-DDF2DF636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3DE14-FD44-9BE6-C8DF-A90DD6DDD0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NL" dirty="0"/>
              <a:t>Codespaces</a:t>
            </a:r>
            <a:br>
              <a:rPr lang="en-NL" dirty="0"/>
            </a:br>
            <a:r>
              <a:rPr lang="en-NL" dirty="0"/>
              <a:t>met VS Code op GitHub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80B672-9BE2-ADA1-D1CF-312CB0E889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681555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BD90E-FFE0-7070-C551-24EE6E097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7B2AA-C4CA-DE34-4CA7-DFB7FE959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NL" sz="1800" dirty="0"/>
              <a:t>✅ Apparaat onafhankelijk</a:t>
            </a:r>
            <a:endParaRPr lang="en-NL" sz="1800" dirty="0">
              <a:ea typeface="Menlo" panose="020B0609030804020204" pitchFamily="49" charset="0"/>
              <a:cs typeface="Menlo" panose="020B0609030804020204" pitchFamily="49" charset="0"/>
            </a:endParaRPr>
          </a:p>
          <a:p>
            <a:pPr lvl="1"/>
            <a:r>
              <a:rPr lang="en-NL" sz="1400" dirty="0">
                <a:ea typeface="Menlo" panose="020B0609030804020204" pitchFamily="49" charset="0"/>
                <a:cs typeface="Menlo" panose="020B0609030804020204" pitchFamily="49" charset="0"/>
              </a:rPr>
              <a:t>Browser-based, geen installatie nodig</a:t>
            </a:r>
          </a:p>
          <a:p>
            <a:pPr marL="0" indent="0">
              <a:buNone/>
            </a:pPr>
            <a:r>
              <a:rPr lang="en-NL" sz="1800" dirty="0"/>
              <a:t>✅ </a:t>
            </a:r>
            <a:r>
              <a:rPr lang="en-NL" sz="1800" dirty="0">
                <a:ea typeface="Menlo" panose="020B0609030804020204" pitchFamily="49" charset="0"/>
                <a:cs typeface="Menlo" panose="020B0609030804020204" pitchFamily="49" charset="0"/>
              </a:rPr>
              <a:t>Alle programmeertalen</a:t>
            </a:r>
          </a:p>
          <a:p>
            <a:pPr lvl="1"/>
            <a:r>
              <a:rPr lang="en-GB" sz="1400" dirty="0">
                <a:ea typeface="Menlo" panose="020B0609030804020204" pitchFamily="49" charset="0"/>
                <a:cs typeface="Menlo" panose="020B0609030804020204" pitchFamily="49" charset="0"/>
              </a:rPr>
              <a:t>Unix based, </a:t>
            </a:r>
            <a:r>
              <a:rPr lang="en-GB" sz="1400" dirty="0" err="1">
                <a:ea typeface="Menlo" panose="020B0609030804020204" pitchFamily="49" charset="0"/>
                <a:cs typeface="Menlo" panose="020B0609030804020204" pitchFamily="49" charset="0"/>
              </a:rPr>
              <a:t>o.a.</a:t>
            </a:r>
            <a:r>
              <a:rPr lang="en-GB" sz="1400" dirty="0">
                <a:ea typeface="Menlo" panose="020B0609030804020204" pitchFamily="49" charset="0"/>
                <a:cs typeface="Menlo" panose="020B0609030804020204" pitchFamily="49" charset="0"/>
              </a:rPr>
              <a:t> support </a:t>
            </a:r>
            <a:r>
              <a:rPr lang="en-GB" sz="1400" dirty="0" err="1">
                <a:ea typeface="Menlo" panose="020B0609030804020204" pitchFamily="49" charset="0"/>
                <a:cs typeface="Menlo" panose="020B0609030804020204" pitchFamily="49" charset="0"/>
              </a:rPr>
              <a:t>voor</a:t>
            </a:r>
            <a:r>
              <a:rPr lang="en-GB" sz="1400" dirty="0">
                <a:ea typeface="Menlo" panose="020B0609030804020204" pitchFamily="49" charset="0"/>
                <a:cs typeface="Menlo" panose="020B0609030804020204" pitchFamily="49" charset="0"/>
              </a:rPr>
              <a:t> html, python, </a:t>
            </a:r>
            <a:r>
              <a:rPr lang="en-GB" sz="1400" dirty="0" err="1">
                <a:ea typeface="Menlo" panose="020B0609030804020204" pitchFamily="49" charset="0"/>
                <a:cs typeface="Menlo" panose="020B0609030804020204" pitchFamily="49" charset="0"/>
              </a:rPr>
              <a:t>php</a:t>
            </a:r>
            <a:r>
              <a:rPr lang="en-GB" sz="1400" dirty="0">
                <a:ea typeface="Menlo" panose="020B0609030804020204" pitchFamily="49" charset="0"/>
                <a:cs typeface="Menlo" panose="020B0609030804020204" pitchFamily="49" charset="0"/>
              </a:rPr>
              <a:t>, c#, etc</a:t>
            </a:r>
          </a:p>
          <a:p>
            <a:pPr marL="0" indent="0">
              <a:buNone/>
            </a:pPr>
            <a:r>
              <a:rPr lang="en-NL" sz="1800" dirty="0"/>
              <a:t>✅ </a:t>
            </a:r>
            <a:r>
              <a:rPr lang="en-NL" sz="1800" dirty="0">
                <a:ea typeface="Menlo" panose="020B0609030804020204" pitchFamily="49" charset="0"/>
                <a:cs typeface="Menlo" panose="020B0609030804020204" pitchFamily="49" charset="0"/>
              </a:rPr>
              <a:t>Samenwerken tussen leerlingen</a:t>
            </a:r>
          </a:p>
          <a:p>
            <a:pPr lvl="1"/>
            <a:r>
              <a:rPr lang="en-NL" sz="1400" dirty="0">
                <a:ea typeface="Menlo" panose="020B0609030804020204" pitchFamily="49" charset="0"/>
                <a:cs typeface="Menlo" panose="020B0609030804020204" pitchFamily="49" charset="0"/>
              </a:rPr>
              <a:t>Code online bewaren in GitHub, s</a:t>
            </a:r>
            <a:r>
              <a:rPr lang="en-GB" sz="1400" dirty="0" err="1">
                <a:ea typeface="Menlo" panose="020B0609030804020204" pitchFamily="49" charset="0"/>
                <a:cs typeface="Menlo" panose="020B0609030804020204" pitchFamily="49" charset="0"/>
              </a:rPr>
              <a:t>amenwerken</a:t>
            </a:r>
            <a:r>
              <a:rPr lang="en-GB" sz="1400" dirty="0">
                <a:ea typeface="Menlo" panose="020B0609030804020204" pitchFamily="49" charset="0"/>
                <a:cs typeface="Menlo" panose="020B0609030804020204" pitchFamily="49" charset="0"/>
              </a:rPr>
              <a:t> met git of </a:t>
            </a:r>
            <a:r>
              <a:rPr lang="en-NL" sz="1400" dirty="0">
                <a:ea typeface="Menlo" panose="020B0609030804020204" pitchFamily="49" charset="0"/>
                <a:cs typeface="Menlo" panose="020B0609030804020204" pitchFamily="49" charset="0"/>
              </a:rPr>
              <a:t>live-share</a:t>
            </a:r>
            <a:endParaRPr lang="en-GB" sz="1400" dirty="0"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buNone/>
            </a:pPr>
            <a:r>
              <a:rPr lang="en-NL" sz="1800" dirty="0"/>
              <a:t>✅ </a:t>
            </a:r>
            <a:r>
              <a:rPr lang="en-NL" sz="1800" dirty="0">
                <a:ea typeface="Menlo" panose="020B0609030804020204" pitchFamily="49" charset="0"/>
                <a:cs typeface="Menlo" panose="020B0609030804020204" pitchFamily="49" charset="0"/>
              </a:rPr>
              <a:t>Gratis</a:t>
            </a:r>
          </a:p>
          <a:p>
            <a:pPr lvl="1"/>
            <a:r>
              <a:rPr lang="en-NL" sz="1400" dirty="0">
                <a:ea typeface="Menlo" panose="020B0609030804020204" pitchFamily="49" charset="0"/>
                <a:cs typeface="Menlo" panose="020B0609030804020204" pitchFamily="49" charset="0"/>
              </a:rPr>
              <a:t>Free account voor 60 uur per maand</a:t>
            </a:r>
          </a:p>
          <a:p>
            <a:pPr marL="0" indent="0">
              <a:buNone/>
            </a:pPr>
            <a:r>
              <a:rPr lang="en-NL" sz="1800" dirty="0"/>
              <a:t>✅ Professioneel</a:t>
            </a:r>
          </a:p>
          <a:p>
            <a:pPr lvl="1"/>
            <a:r>
              <a:rPr lang="en-GB" sz="1400" dirty="0">
                <a:ea typeface="Menlo" panose="020B0609030804020204" pitchFamily="49" charset="0"/>
                <a:cs typeface="Menlo" panose="020B0609030804020204" pitchFamily="49" charset="0"/>
              </a:rPr>
              <a:t>Veel </a:t>
            </a:r>
            <a:r>
              <a:rPr lang="en-GB" sz="1400" dirty="0" err="1">
                <a:ea typeface="Menlo" panose="020B0609030804020204" pitchFamily="49" charset="0"/>
                <a:cs typeface="Menlo" panose="020B0609030804020204" pitchFamily="49" charset="0"/>
              </a:rPr>
              <a:t>informatie</a:t>
            </a:r>
            <a:r>
              <a:rPr lang="en-GB" sz="1400" dirty="0"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sz="1400" dirty="0" err="1">
                <a:ea typeface="Menlo" panose="020B0609030804020204" pitchFamily="49" charset="0"/>
                <a:cs typeface="Menlo" panose="020B0609030804020204" pitchFamily="49" charset="0"/>
              </a:rPr>
              <a:t>beschikbaar</a:t>
            </a:r>
            <a:r>
              <a:rPr lang="en-GB" sz="1400" dirty="0"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GB" sz="1400" dirty="0" err="1">
                <a:ea typeface="Menlo" panose="020B0609030804020204" pitchFamily="49" charset="0"/>
                <a:cs typeface="Menlo" panose="020B0609030804020204" pitchFamily="49" charset="0"/>
              </a:rPr>
              <a:t>veel</a:t>
            </a:r>
            <a:r>
              <a:rPr lang="en-GB" sz="1400" dirty="0"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sz="1400" dirty="0" err="1">
                <a:ea typeface="Menlo" panose="020B0609030804020204" pitchFamily="49" charset="0"/>
                <a:cs typeface="Menlo" panose="020B0609030804020204" pitchFamily="49" charset="0"/>
              </a:rPr>
              <a:t>mogelijkheden</a:t>
            </a:r>
            <a:endParaRPr lang="en-GB" sz="1400" dirty="0"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buNone/>
            </a:pPr>
            <a:r>
              <a:rPr lang="en-NL" sz="1800" dirty="0"/>
              <a:t>❌ </a:t>
            </a:r>
            <a:r>
              <a:rPr lang="en-GB" sz="1800" dirty="0">
                <a:ea typeface="Menlo" panose="020B0609030804020204" pitchFamily="49" charset="0"/>
                <a:cs typeface="Menlo" panose="020B0609030804020204" pitchFamily="49" charset="0"/>
              </a:rPr>
              <a:t>Physical computing</a:t>
            </a:r>
          </a:p>
          <a:p>
            <a:pPr lvl="1"/>
            <a:r>
              <a:rPr lang="en-GB" sz="1400" dirty="0" err="1">
                <a:ea typeface="Menlo" panose="020B0609030804020204" pitchFamily="49" charset="0"/>
                <a:cs typeface="Menlo" panose="020B0609030804020204" pitchFamily="49" charset="0"/>
              </a:rPr>
              <a:t>Gebruik</a:t>
            </a:r>
            <a:r>
              <a:rPr lang="en-GB" sz="1400" dirty="0"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sz="1400" dirty="0" err="1">
                <a:ea typeface="Menlo" panose="020B0609030804020204" pitchFamily="49" charset="0"/>
                <a:cs typeface="Menlo" panose="020B0609030804020204" pitchFamily="49" charset="0"/>
              </a:rPr>
              <a:t>lokale</a:t>
            </a:r>
            <a:r>
              <a:rPr lang="en-GB" sz="1400" dirty="0"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sz="1400" dirty="0" err="1">
                <a:ea typeface="Menlo" panose="020B0609030804020204" pitchFamily="49" charset="0"/>
                <a:cs typeface="Menlo" panose="020B0609030804020204" pitchFamily="49" charset="0"/>
              </a:rPr>
              <a:t>usb</a:t>
            </a:r>
            <a:r>
              <a:rPr lang="en-GB" sz="1400" dirty="0">
                <a:ea typeface="Menlo" panose="020B0609030804020204" pitchFamily="49" charset="0"/>
                <a:cs typeface="Menlo" panose="020B0609030804020204" pitchFamily="49" charset="0"/>
              </a:rPr>
              <a:t> of </a:t>
            </a:r>
            <a:r>
              <a:rPr lang="en-GB" sz="1400" dirty="0" err="1">
                <a:ea typeface="Menlo" panose="020B0609030804020204" pitchFamily="49" charset="0"/>
                <a:cs typeface="Menlo" panose="020B0609030804020204" pitchFamily="49" charset="0"/>
              </a:rPr>
              <a:t>wifi</a:t>
            </a:r>
            <a:r>
              <a:rPr lang="en-GB" sz="1400" dirty="0"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sz="1400" dirty="0" err="1">
                <a:ea typeface="Menlo" panose="020B0609030804020204" pitchFamily="49" charset="0"/>
                <a:cs typeface="Menlo" panose="020B0609030804020204" pitchFamily="49" charset="0"/>
              </a:rPr>
              <a:t>vanaf</a:t>
            </a:r>
            <a:r>
              <a:rPr lang="en-GB" sz="1400" dirty="0">
                <a:ea typeface="Menlo" panose="020B0609030804020204" pitchFamily="49" charset="0"/>
                <a:cs typeface="Menlo" panose="020B0609030804020204" pitchFamily="49" charset="0"/>
              </a:rPr>
              <a:t> VM is </a:t>
            </a:r>
            <a:r>
              <a:rPr lang="en-GB" sz="1400" dirty="0" err="1">
                <a:ea typeface="Menlo" panose="020B0609030804020204" pitchFamily="49" charset="0"/>
                <a:cs typeface="Menlo" panose="020B0609030804020204" pitchFamily="49" charset="0"/>
              </a:rPr>
              <a:t>lastig</a:t>
            </a:r>
            <a:endParaRPr lang="en-GB" sz="1400" dirty="0"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buNone/>
            </a:pPr>
            <a:r>
              <a:rPr lang="en-NL" sz="1800" dirty="0"/>
              <a:t>❌ </a:t>
            </a:r>
            <a:r>
              <a:rPr lang="en-GB" sz="1800" dirty="0" err="1">
                <a:ea typeface="Menlo" panose="020B0609030804020204" pitchFamily="49" charset="0"/>
                <a:cs typeface="Menlo" panose="020B0609030804020204" pitchFamily="49" charset="0"/>
              </a:rPr>
              <a:t>Leercurve</a:t>
            </a:r>
            <a:endParaRPr lang="en-GB" sz="1800" dirty="0">
              <a:ea typeface="Menlo" panose="020B0609030804020204" pitchFamily="49" charset="0"/>
              <a:cs typeface="Menlo" panose="020B0609030804020204" pitchFamily="49" charset="0"/>
            </a:endParaRPr>
          </a:p>
          <a:p>
            <a:pPr lvl="1"/>
            <a:r>
              <a:rPr lang="en-GB" sz="1400" dirty="0" err="1">
                <a:ea typeface="Menlo" panose="020B0609030804020204" pitchFamily="49" charset="0"/>
                <a:cs typeface="Menlo" panose="020B0609030804020204" pitchFamily="49" charset="0"/>
              </a:rPr>
              <a:t>Leerlingen</a:t>
            </a:r>
            <a:r>
              <a:rPr lang="en-GB" sz="1400" dirty="0"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sz="1400" dirty="0" err="1">
                <a:ea typeface="Menlo" panose="020B0609030804020204" pitchFamily="49" charset="0"/>
                <a:cs typeface="Menlo" panose="020B0609030804020204" pitchFamily="49" charset="0"/>
              </a:rPr>
              <a:t>hebben</a:t>
            </a:r>
            <a:r>
              <a:rPr lang="en-GB" sz="1400" dirty="0"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sz="1400" dirty="0" err="1">
                <a:ea typeface="Menlo" panose="020B0609030804020204" pitchFamily="49" charset="0"/>
                <a:cs typeface="Menlo" panose="020B0609030804020204" pitchFamily="49" charset="0"/>
              </a:rPr>
              <a:t>een</a:t>
            </a:r>
            <a:r>
              <a:rPr lang="en-GB" sz="1400" dirty="0"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sz="1400" dirty="0" err="1">
                <a:ea typeface="Menlo" panose="020B0609030804020204" pitchFamily="49" charset="0"/>
                <a:cs typeface="Menlo" panose="020B0609030804020204" pitchFamily="49" charset="0"/>
              </a:rPr>
              <a:t>paar</a:t>
            </a:r>
            <a:r>
              <a:rPr lang="en-GB" sz="1400" dirty="0">
                <a:ea typeface="Menlo" panose="020B0609030804020204" pitchFamily="49" charset="0"/>
                <a:cs typeface="Menlo" panose="020B0609030804020204" pitchFamily="49" charset="0"/>
              </a:rPr>
              <a:t> lessen </a:t>
            </a:r>
            <a:r>
              <a:rPr lang="en-GB" sz="1400" dirty="0" err="1">
                <a:ea typeface="Menlo" panose="020B0609030804020204" pitchFamily="49" charset="0"/>
                <a:cs typeface="Menlo" panose="020B0609030804020204" pitchFamily="49" charset="0"/>
              </a:rPr>
              <a:t>nodig</a:t>
            </a:r>
            <a:r>
              <a:rPr lang="en-GB" sz="1400" dirty="0"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sz="1400" dirty="0" err="1">
                <a:ea typeface="Menlo" panose="020B0609030804020204" pitchFamily="49" charset="0"/>
                <a:cs typeface="Menlo" panose="020B0609030804020204" pitchFamily="49" charset="0"/>
              </a:rPr>
              <a:t>voordat</a:t>
            </a:r>
            <a:r>
              <a:rPr lang="en-GB" sz="1400" dirty="0">
                <a:ea typeface="Menlo" panose="020B0609030804020204" pitchFamily="49" charset="0"/>
                <a:cs typeface="Menlo" panose="020B0609030804020204" pitchFamily="49" charset="0"/>
              </a:rPr>
              <a:t> het </a:t>
            </a:r>
            <a:r>
              <a:rPr lang="en-GB" sz="1400" dirty="0" err="1">
                <a:ea typeface="Menlo" panose="020B0609030804020204" pitchFamily="49" charset="0"/>
                <a:cs typeface="Menlo" panose="020B0609030804020204" pitchFamily="49" charset="0"/>
              </a:rPr>
              <a:t>soepel</a:t>
            </a:r>
            <a:r>
              <a:rPr lang="en-GB" sz="1400" dirty="0"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sz="1400" dirty="0" err="1">
                <a:ea typeface="Menlo" panose="020B0609030804020204" pitchFamily="49" charset="0"/>
                <a:cs typeface="Menlo" panose="020B0609030804020204" pitchFamily="49" charset="0"/>
              </a:rPr>
              <a:t>loopt</a:t>
            </a:r>
            <a:r>
              <a:rPr lang="en-GB" sz="1400" dirty="0">
                <a:ea typeface="Menlo" panose="020B0609030804020204" pitchFamily="49" charset="0"/>
                <a:cs typeface="Menlo" panose="020B0609030804020204" pitchFamily="49" charset="0"/>
              </a:rPr>
              <a:t>, de </a:t>
            </a:r>
            <a:r>
              <a:rPr lang="en-GB" sz="1400" dirty="0" err="1">
                <a:ea typeface="Menlo" panose="020B0609030804020204" pitchFamily="49" charset="0"/>
                <a:cs typeface="Menlo" panose="020B0609030804020204" pitchFamily="49" charset="0"/>
              </a:rPr>
              <a:t>juiste</a:t>
            </a:r>
            <a:r>
              <a:rPr lang="en-GB" sz="1400" dirty="0"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sz="1400" dirty="0" err="1">
                <a:ea typeface="Menlo" panose="020B0609030804020204" pitchFamily="49" charset="0"/>
                <a:cs typeface="Menlo" panose="020B0609030804020204" pitchFamily="49" charset="0"/>
              </a:rPr>
              <a:t>configuratie</a:t>
            </a:r>
            <a:r>
              <a:rPr lang="en-GB" sz="1400" dirty="0"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sz="1400" dirty="0" err="1">
                <a:ea typeface="Menlo" panose="020B0609030804020204" pitchFamily="49" charset="0"/>
                <a:cs typeface="Menlo" panose="020B0609030804020204" pitchFamily="49" charset="0"/>
              </a:rPr>
              <a:t>helpt</a:t>
            </a:r>
            <a:endParaRPr lang="en-GB" sz="1400" dirty="0">
              <a:ea typeface="Menlo" panose="020B0609030804020204" pitchFamily="49" charset="0"/>
              <a:cs typeface="Menlo" panose="020B0609030804020204" pitchFamily="49" charset="0"/>
            </a:endParaRPr>
          </a:p>
          <a:p>
            <a:pPr lvl="1"/>
            <a:r>
              <a:rPr lang="en-GB" sz="1400" dirty="0">
                <a:ea typeface="Menlo" panose="020B0609030804020204" pitchFamily="49" charset="0"/>
                <a:cs typeface="Menlo" panose="020B0609030804020204" pitchFamily="49" charset="0"/>
              </a:rPr>
              <a:t>Voor </a:t>
            </a:r>
            <a:r>
              <a:rPr lang="en-GB" sz="1400" dirty="0" err="1">
                <a:ea typeface="Menlo" panose="020B0609030804020204" pitchFamily="49" charset="0"/>
                <a:cs typeface="Menlo" panose="020B0609030804020204" pitchFamily="49" charset="0"/>
              </a:rPr>
              <a:t>docenten</a:t>
            </a:r>
            <a:r>
              <a:rPr lang="en-GB" sz="1400" dirty="0"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sz="1400" dirty="0" err="1">
                <a:ea typeface="Menlo" panose="020B0609030804020204" pitchFamily="49" charset="0"/>
                <a:cs typeface="Menlo" panose="020B0609030804020204" pitchFamily="49" charset="0"/>
              </a:rPr>
              <a:t>helpt</a:t>
            </a:r>
            <a:r>
              <a:rPr lang="en-GB" sz="1400" dirty="0"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sz="1400" dirty="0" err="1">
                <a:ea typeface="Menlo" panose="020B0609030804020204" pitchFamily="49" charset="0"/>
                <a:cs typeface="Menlo" panose="020B0609030804020204" pitchFamily="49" charset="0"/>
              </a:rPr>
              <a:t>enige</a:t>
            </a:r>
            <a:r>
              <a:rPr lang="en-GB" sz="1400" dirty="0"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sz="1400" dirty="0" err="1">
                <a:ea typeface="Menlo" panose="020B0609030804020204" pitchFamily="49" charset="0"/>
                <a:cs typeface="Menlo" panose="020B0609030804020204" pitchFamily="49" charset="0"/>
              </a:rPr>
              <a:t>ervaring</a:t>
            </a:r>
            <a:r>
              <a:rPr lang="en-GB" sz="1400" dirty="0">
                <a:ea typeface="Menlo" panose="020B0609030804020204" pitchFamily="49" charset="0"/>
                <a:cs typeface="Menlo" panose="020B0609030804020204" pitchFamily="49" charset="0"/>
              </a:rPr>
              <a:t> met GitHub/VS Code</a:t>
            </a:r>
          </a:p>
          <a:p>
            <a:pPr marL="0" indent="0">
              <a:buNone/>
            </a:pPr>
            <a:r>
              <a:rPr lang="en-NL" sz="1800" dirty="0"/>
              <a:t>❌ </a:t>
            </a:r>
            <a:r>
              <a:rPr lang="en-GB" sz="1800" dirty="0">
                <a:ea typeface="Menlo" panose="020B0609030804020204" pitchFamily="49" charset="0"/>
                <a:cs typeface="Menlo" panose="020B0609030804020204" pitchFamily="49" charset="0"/>
              </a:rPr>
              <a:t>Audio</a:t>
            </a:r>
          </a:p>
          <a:p>
            <a:pPr lvl="1"/>
            <a:r>
              <a:rPr lang="en-GB" sz="1400" dirty="0">
                <a:ea typeface="Menlo" panose="020B0609030804020204" pitchFamily="49" charset="0"/>
                <a:cs typeface="Menlo" panose="020B0609030804020204" pitchFamily="49" charset="0"/>
              </a:rPr>
              <a:t>Wel GUI, </a:t>
            </a:r>
            <a:r>
              <a:rPr lang="en-GB" sz="1400" dirty="0" err="1">
                <a:ea typeface="Menlo" panose="020B0609030804020204" pitchFamily="49" charset="0"/>
                <a:cs typeface="Menlo" panose="020B0609030804020204" pitchFamily="49" charset="0"/>
              </a:rPr>
              <a:t>geen</a:t>
            </a:r>
            <a:r>
              <a:rPr lang="en-GB" sz="1400" dirty="0">
                <a:ea typeface="Menlo" panose="020B0609030804020204" pitchFamily="49" charset="0"/>
                <a:cs typeface="Menlo" panose="020B0609030804020204" pitchFamily="49" charset="0"/>
              </a:rPr>
              <a:t> audio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21E6A1-F801-B786-AB97-7DD89BC4B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Functionaliteit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052232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FF488-3EDA-C087-19F9-682997236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C6630E-769C-7776-FC80-BC179F12DE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9921" y="1408766"/>
            <a:ext cx="9734619" cy="515966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32F348-8D24-89D9-8803-DDAB711FF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Gebruikersinterface </a:t>
            </a:r>
            <a:r>
              <a:rPr lang="en-NL" dirty="0"/>
              <a:t>(vscode web)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6ECF2BE-0807-3E88-3687-201AAF44990F}"/>
              </a:ext>
            </a:extLst>
          </p:cNvPr>
          <p:cNvSpPr/>
          <p:nvPr/>
        </p:nvSpPr>
        <p:spPr>
          <a:xfrm>
            <a:off x="1049921" y="1999136"/>
            <a:ext cx="314960" cy="3355183"/>
          </a:xfrm>
          <a:prstGeom prst="roundRect">
            <a:avLst>
              <a:gd name="adj" fmla="val 46774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581599D-E220-DF5E-83B3-67ED7B0E409E}"/>
              </a:ext>
            </a:extLst>
          </p:cNvPr>
          <p:cNvSpPr/>
          <p:nvPr/>
        </p:nvSpPr>
        <p:spPr>
          <a:xfrm>
            <a:off x="1407460" y="2006917"/>
            <a:ext cx="1284940" cy="3906203"/>
          </a:xfrm>
          <a:prstGeom prst="roundRect">
            <a:avLst>
              <a:gd name="adj" fmla="val 36147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EF06C9F-4D36-958F-ED2B-55D34128FF78}"/>
              </a:ext>
            </a:extLst>
          </p:cNvPr>
          <p:cNvSpPr/>
          <p:nvPr/>
        </p:nvSpPr>
        <p:spPr>
          <a:xfrm>
            <a:off x="2809540" y="1999137"/>
            <a:ext cx="3286460" cy="3273901"/>
          </a:xfrm>
          <a:prstGeom prst="roundRect">
            <a:avLst>
              <a:gd name="adj" fmla="val 36147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9742926-9B0E-86F7-9BAE-F4A9DDE0C50E}"/>
              </a:ext>
            </a:extLst>
          </p:cNvPr>
          <p:cNvSpPr/>
          <p:nvPr/>
        </p:nvSpPr>
        <p:spPr>
          <a:xfrm>
            <a:off x="6213140" y="2046048"/>
            <a:ext cx="4312620" cy="3226991"/>
          </a:xfrm>
          <a:prstGeom prst="roundRect">
            <a:avLst>
              <a:gd name="adj" fmla="val 36147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7654C24-3B7E-6204-81DF-37EC4829727B}"/>
              </a:ext>
            </a:extLst>
          </p:cNvPr>
          <p:cNvSpPr/>
          <p:nvPr/>
        </p:nvSpPr>
        <p:spPr>
          <a:xfrm>
            <a:off x="2809540" y="5449234"/>
            <a:ext cx="7634940" cy="867446"/>
          </a:xfrm>
          <a:prstGeom prst="roundRect">
            <a:avLst>
              <a:gd name="adj" fmla="val 36147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4139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D22D9-2C2A-A99E-00CF-F23422B25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7C60B-5864-B1DA-7B1B-C6641BAE1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Architectuur</a:t>
            </a:r>
            <a:r>
              <a:rPr lang="en-NL" dirty="0"/>
              <a:t> (github &amp; codespaces)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7AE35-518F-5564-20D3-5269DF1B2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2050" name="Picture 2" descr="Schematische weergave van samenwerken in Codespaces">
            <a:extLst>
              <a:ext uri="{FF2B5EF4-FFF2-40B4-BE49-F238E27FC236}">
                <a16:creationId xmlns:a16="http://schemas.microsoft.com/office/drawing/2014/main" id="{CC783F8D-FF81-42BD-0D0C-69DE47F9EA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0" t="18109" r="5309" b="3068"/>
          <a:stretch>
            <a:fillRect/>
          </a:stretch>
        </p:blipFill>
        <p:spPr bwMode="auto">
          <a:xfrm>
            <a:off x="739588" y="1298435"/>
            <a:ext cx="10192871" cy="5405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00C208C5-D597-4A02-66D1-1308B6EA280A}"/>
              </a:ext>
            </a:extLst>
          </p:cNvPr>
          <p:cNvSpPr/>
          <p:nvPr/>
        </p:nvSpPr>
        <p:spPr>
          <a:xfrm rot="19571955">
            <a:off x="3749040" y="3743960"/>
            <a:ext cx="833120" cy="731520"/>
          </a:xfrm>
          <a:prstGeom prst="rightArrow">
            <a:avLst>
              <a:gd name="adj1" fmla="val 30556"/>
              <a:gd name="adj2" fmla="val 50000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791EB256-E9D8-DC5A-F815-D5BB6C989B39}"/>
              </a:ext>
            </a:extLst>
          </p:cNvPr>
          <p:cNvSpPr/>
          <p:nvPr/>
        </p:nvSpPr>
        <p:spPr>
          <a:xfrm rot="19571955">
            <a:off x="6614159" y="3708399"/>
            <a:ext cx="833120" cy="731520"/>
          </a:xfrm>
          <a:prstGeom prst="rightArrow">
            <a:avLst>
              <a:gd name="adj1" fmla="val 30556"/>
              <a:gd name="adj2" fmla="val 50000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394413EA-74E7-38AC-F28A-66C57A0D5C98}"/>
              </a:ext>
            </a:extLst>
          </p:cNvPr>
          <p:cNvSpPr/>
          <p:nvPr/>
        </p:nvSpPr>
        <p:spPr>
          <a:xfrm rot="8062024">
            <a:off x="6841154" y="1636148"/>
            <a:ext cx="833120" cy="731520"/>
          </a:xfrm>
          <a:prstGeom prst="rightArrow">
            <a:avLst>
              <a:gd name="adj1" fmla="val 30556"/>
              <a:gd name="adj2" fmla="val 50000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79E0CFA1-8D58-9783-FE96-0C55BB0E391B}"/>
              </a:ext>
            </a:extLst>
          </p:cNvPr>
          <p:cNvSpPr/>
          <p:nvPr/>
        </p:nvSpPr>
        <p:spPr>
          <a:xfrm rot="8062024">
            <a:off x="1781475" y="1481356"/>
            <a:ext cx="833120" cy="731520"/>
          </a:xfrm>
          <a:prstGeom prst="rightArrow">
            <a:avLst>
              <a:gd name="adj1" fmla="val 30556"/>
              <a:gd name="adj2" fmla="val 50000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440230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A5E35-93C3-8777-AEA0-BA307FA3D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6E4F4-14B7-52C1-50BF-89C025290B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NL" dirty="0"/>
              <a:t>Aan de slag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847B8D-3741-026A-C476-55C76D61AE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54746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958CE-3E92-617C-79C0-5EE86F44E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65A5C-15A8-D5E0-7D00-3C35804E4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Aan de slag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13C96-6F2C-BF9E-618C-9A505C4BC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NL" dirty="0"/>
              <a:t>Maak account of log in op </a:t>
            </a:r>
          </a:p>
          <a:p>
            <a:pPr lvl="1"/>
            <a:r>
              <a:rPr lang="en-NL" dirty="0">
                <a:hlinkClick r:id="rId2"/>
              </a:rPr>
              <a:t>https://github.com</a:t>
            </a:r>
            <a:endParaRPr lang="en-NL" dirty="0"/>
          </a:p>
          <a:p>
            <a:pPr marL="514350" indent="-514350">
              <a:buFont typeface="+mj-lt"/>
              <a:buAutoNum type="arabicPeriod"/>
            </a:pPr>
            <a:r>
              <a:rPr lang="en-NL" dirty="0"/>
              <a:t>Kies een voorbeeld-repository</a:t>
            </a:r>
          </a:p>
          <a:p>
            <a:pPr lvl="1"/>
            <a:r>
              <a:rPr lang="en-GB" dirty="0">
                <a:hlinkClick r:id="rId3"/>
              </a:rPr>
              <a:t>https://github.com/informatica-actief/python-template</a:t>
            </a:r>
            <a:endParaRPr lang="en-GB" dirty="0"/>
          </a:p>
          <a:p>
            <a:pPr lvl="1"/>
            <a:r>
              <a:rPr lang="en-GB" dirty="0">
                <a:hlinkClick r:id="rId4"/>
              </a:rPr>
              <a:t>https://github.com/informatica-actief/html-template</a:t>
            </a:r>
            <a:endParaRPr lang="en-NL" dirty="0"/>
          </a:p>
          <a:p>
            <a:pPr marL="514350" indent="-514350">
              <a:buFont typeface="+mj-lt"/>
              <a:buAutoNum type="arabicPeriod"/>
            </a:pPr>
            <a:r>
              <a:rPr lang="en-NL" dirty="0"/>
              <a:t>Volg README.md </a:t>
            </a:r>
          </a:p>
          <a:p>
            <a:pPr lvl="1"/>
            <a:r>
              <a:rPr lang="en-GB" dirty="0"/>
              <a:t>K</a:t>
            </a:r>
            <a:r>
              <a:rPr lang="en-NL" dirty="0"/>
              <a:t>ies bij kopieren voor optie 1 (incidenteel gebruik)</a:t>
            </a:r>
          </a:p>
        </p:txBody>
      </p:sp>
    </p:spTree>
    <p:extLst>
      <p:ext uri="{BB962C8B-B14F-4D97-AF65-F5344CB8AC3E}">
        <p14:creationId xmlns:p14="http://schemas.microsoft.com/office/powerpoint/2010/main" val="2867457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284F5-85CF-4022-E09D-451C1C22F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D3657-9942-32E3-BA33-6ABA8785C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Documentatie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E7DA4-3263-1776-AF2C-FB01035F1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09153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400" b="1" dirty="0"/>
              <a:t>Verkorte </a:t>
            </a:r>
            <a:r>
              <a:rPr lang="nl-NL" sz="2400" b="1" dirty="0" err="1"/>
              <a:t>leerlinghandleiding</a:t>
            </a:r>
            <a:br>
              <a:rPr lang="en-NL" sz="2400" dirty="0"/>
            </a:br>
            <a:r>
              <a:rPr lang="en-NL" sz="2400" dirty="0"/>
              <a:t>    </a:t>
            </a:r>
            <a:r>
              <a:rPr lang="en-GB" sz="2400" dirty="0">
                <a:hlinkClick r:id="rId2"/>
              </a:rPr>
              <a:t>https://github.com/Informatica-Actief/</a:t>
            </a:r>
            <a:r>
              <a:rPr lang="en-GB" sz="2400" dirty="0"/>
              <a:t> (</a:t>
            </a:r>
            <a:r>
              <a:rPr lang="en-GB" sz="2400" dirty="0" err="1"/>
              <a:t>zie</a:t>
            </a:r>
            <a:r>
              <a:rPr lang="en-GB" sz="2400" dirty="0"/>
              <a:t> </a:t>
            </a:r>
            <a:r>
              <a:rPr lang="en-GB" sz="2400" dirty="0" err="1"/>
              <a:t>README.md</a:t>
            </a:r>
            <a:r>
              <a:rPr lang="en-GB" sz="2400" dirty="0"/>
              <a:t> </a:t>
            </a:r>
            <a:r>
              <a:rPr lang="en-GB" sz="2400" dirty="0" err="1"/>
              <a:t>bestanden</a:t>
            </a:r>
            <a:r>
              <a:rPr lang="en-GB" sz="2400" dirty="0"/>
              <a:t>)</a:t>
            </a:r>
            <a:endParaRPr lang="en-NL" sz="2400" dirty="0"/>
          </a:p>
          <a:p>
            <a:pPr marL="0" indent="0">
              <a:buNone/>
            </a:pPr>
            <a:r>
              <a:rPr lang="en-NL" sz="2400" b="1" dirty="0"/>
              <a:t>Leerlinghandleiding</a:t>
            </a:r>
            <a:br>
              <a:rPr lang="en-NL" sz="2400" b="1" dirty="0"/>
            </a:br>
            <a:r>
              <a:rPr lang="en-NL" sz="2400" b="1" dirty="0"/>
              <a:t>    </a:t>
            </a:r>
            <a:r>
              <a:rPr lang="en-GB" sz="2400" dirty="0">
                <a:hlinkClick r:id="rId3"/>
              </a:rPr>
              <a:t>https://stanislas.informatica.nu/help/codespaces/</a:t>
            </a:r>
            <a:endParaRPr lang="en-NL" sz="2400" dirty="0"/>
          </a:p>
          <a:p>
            <a:pPr marL="0" indent="0">
              <a:buNone/>
            </a:pPr>
            <a:r>
              <a:rPr lang="en-NL" sz="2400" b="1" dirty="0"/>
              <a:t>Docentenhandleiding</a:t>
            </a:r>
            <a:br>
              <a:rPr lang="en-NL" sz="2400" b="1" dirty="0"/>
            </a:br>
            <a:r>
              <a:rPr lang="en-NL" sz="2400" b="1" dirty="0"/>
              <a:t>    </a:t>
            </a:r>
            <a:r>
              <a:rPr lang="en-GB" sz="2400" dirty="0">
                <a:hlinkClick r:id="rId4"/>
              </a:rPr>
              <a:t>https://stanislas.informatica.nu/docenten/codespaces/</a:t>
            </a:r>
            <a:endParaRPr lang="en-NL" sz="2400" dirty="0"/>
          </a:p>
          <a:p>
            <a:pPr marL="0" indent="0">
              <a:buNone/>
            </a:pPr>
            <a:r>
              <a:rPr lang="en-NL" sz="2400" b="1" dirty="0"/>
              <a:t>Leerlinghandleiding </a:t>
            </a:r>
            <a:r>
              <a:rPr lang="en-GB" sz="2400" b="1" dirty="0"/>
              <a:t>m</a:t>
            </a:r>
            <a:r>
              <a:rPr lang="en-NL" sz="2400" b="1" dirty="0"/>
              <a:t>et schermafdrukken</a:t>
            </a:r>
            <a:br>
              <a:rPr lang="en-NL" sz="2400" b="1" dirty="0"/>
            </a:br>
            <a:r>
              <a:rPr lang="en-NL" sz="2400" b="1" dirty="0"/>
              <a:t>    </a:t>
            </a:r>
            <a:r>
              <a:rPr lang="en-GB" sz="2400" dirty="0">
                <a:hlinkClick r:id="rId5"/>
              </a:rPr>
              <a:t>https://www.informatica-actief.nl/</a:t>
            </a:r>
            <a:r>
              <a:rPr lang="en-GB" sz="2400" dirty="0"/>
              <a:t> (account </a:t>
            </a:r>
            <a:r>
              <a:rPr lang="en-GB" sz="2400" dirty="0" err="1"/>
              <a:t>nodig</a:t>
            </a:r>
            <a:r>
              <a:rPr lang="en-GB" sz="2400" dirty="0"/>
              <a:t>)</a:t>
            </a:r>
          </a:p>
          <a:p>
            <a:pPr marL="0" indent="0">
              <a:buNone/>
            </a:pPr>
            <a:r>
              <a:rPr lang="en-GB" sz="2400" b="1" dirty="0" err="1"/>
              <a:t>Officiële</a:t>
            </a:r>
            <a:r>
              <a:rPr lang="en-GB" sz="2400" b="1" dirty="0"/>
              <a:t> </a:t>
            </a:r>
            <a:r>
              <a:rPr lang="en-GB" sz="2400" b="1" dirty="0" err="1"/>
              <a:t>documentatie</a:t>
            </a:r>
            <a:endParaRPr lang="en-GB" sz="2400" b="1" dirty="0"/>
          </a:p>
          <a:p>
            <a:r>
              <a:rPr lang="en-GB" sz="2000" dirty="0" err="1"/>
              <a:t>Codespaces</a:t>
            </a:r>
            <a:r>
              <a:rPr lang="en-GB" sz="2000" dirty="0"/>
              <a:t>: </a:t>
            </a:r>
            <a:r>
              <a:rPr lang="en-GB" sz="2000" dirty="0">
                <a:hlinkClick r:id="rId6"/>
              </a:rPr>
              <a:t>https://docs.github.com/en/codespaces/about-codespaces/what-are-codespaces</a:t>
            </a:r>
            <a:endParaRPr lang="en-GB" sz="2000" dirty="0"/>
          </a:p>
          <a:p>
            <a:r>
              <a:rPr lang="en-GB" sz="2000" dirty="0"/>
              <a:t>VS Code: </a:t>
            </a:r>
            <a:r>
              <a:rPr lang="en-GB" sz="2000" dirty="0">
                <a:hlinkClick r:id="rId7"/>
              </a:rPr>
              <a:t>https://code.visualstudio.com/docs</a:t>
            </a:r>
            <a:endParaRPr lang="en-GB" sz="2000" dirty="0"/>
          </a:p>
          <a:p>
            <a:r>
              <a:rPr lang="en-GB" sz="2000" dirty="0"/>
              <a:t>GitHub: </a:t>
            </a:r>
            <a:r>
              <a:rPr lang="en-GB" sz="2000" dirty="0">
                <a:hlinkClick r:id="rId8"/>
              </a:rPr>
              <a:t>https://docs.github.com/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114958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CA9D5-EDDC-EB9B-3E23-5E7EBF388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BA80C-9A29-D386-7302-2BE59ECF4C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NL" dirty="0"/>
              <a:t>Backup Slides</a:t>
            </a:r>
            <a:br>
              <a:rPr lang="en-NL" dirty="0"/>
            </a:br>
            <a:r>
              <a:rPr lang="en-NL" dirty="0"/>
              <a:t>ontwikkelomgevingen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4D94EF-B07C-3E62-B921-DEB971751C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5886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1EEEA-8C04-8AC6-2174-269116A41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6AB00-6FA4-8D99-DEB4-2E1D2FBD2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L" dirty="0"/>
              <a:t>Enkele ontwikkelomgevingen</a:t>
            </a:r>
          </a:p>
        </p:txBody>
      </p:sp>
      <p:pic>
        <p:nvPicPr>
          <p:cNvPr id="18" name="Content Placeholder 17" descr="A close up of a logo&#10;&#10;AI-generated content may be incorrect.">
            <a:extLst>
              <a:ext uri="{FF2B5EF4-FFF2-40B4-BE49-F238E27FC236}">
                <a16:creationId xmlns:a16="http://schemas.microsoft.com/office/drawing/2014/main" id="{80FF535A-3B09-0BEF-71B5-3CFCE71639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13734" y="2513280"/>
            <a:ext cx="1585210" cy="57644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7B101E-46A4-477E-F42C-49A6F72E8EDF}"/>
              </a:ext>
            </a:extLst>
          </p:cNvPr>
          <p:cNvSpPr txBox="1"/>
          <p:nvPr/>
        </p:nvSpPr>
        <p:spPr>
          <a:xfrm>
            <a:off x="8681268" y="6231265"/>
            <a:ext cx="12089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800" dirty="0"/>
              <a:t>Online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9224EB-5C94-CEFD-5F9B-C8622F739612}"/>
              </a:ext>
            </a:extLst>
          </p:cNvPr>
          <p:cNvSpPr txBox="1"/>
          <p:nvPr/>
        </p:nvSpPr>
        <p:spPr>
          <a:xfrm>
            <a:off x="0" y="2184204"/>
            <a:ext cx="159268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NL" sz="2800" dirty="0"/>
              <a:t>Multi</a:t>
            </a:r>
          </a:p>
          <a:p>
            <a:pPr algn="r"/>
            <a:r>
              <a:rPr lang="en-NL" sz="2800" dirty="0"/>
              <a:t>language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DB9F96-81D3-CB84-5283-57F5C8257B44}"/>
              </a:ext>
            </a:extLst>
          </p:cNvPr>
          <p:cNvSpPr txBox="1"/>
          <p:nvPr/>
        </p:nvSpPr>
        <p:spPr>
          <a:xfrm>
            <a:off x="0" y="4585935"/>
            <a:ext cx="159268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NL" sz="2800" dirty="0"/>
              <a:t>Single</a:t>
            </a:r>
          </a:p>
          <a:p>
            <a:pPr algn="r"/>
            <a:r>
              <a:rPr lang="en-NL" sz="2800" dirty="0"/>
              <a:t>language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2ECE46-7373-1167-320B-B94E4879C9C0}"/>
              </a:ext>
            </a:extLst>
          </p:cNvPr>
          <p:cNvSpPr txBox="1"/>
          <p:nvPr/>
        </p:nvSpPr>
        <p:spPr>
          <a:xfrm>
            <a:off x="3510733" y="6231265"/>
            <a:ext cx="10346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800" dirty="0"/>
              <a:t>Local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77B4C3E-562D-04D7-2882-9899C5DC39EB}"/>
              </a:ext>
            </a:extLst>
          </p:cNvPr>
          <p:cNvCxnSpPr/>
          <p:nvPr/>
        </p:nvCxnSpPr>
        <p:spPr>
          <a:xfrm>
            <a:off x="6435634" y="1384663"/>
            <a:ext cx="0" cy="5259977"/>
          </a:xfrm>
          <a:prstGeom prst="line">
            <a:avLst/>
          </a:prstGeom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D650C3B-9A80-C81B-81CA-BCFC8E5A517E}"/>
              </a:ext>
            </a:extLst>
          </p:cNvPr>
          <p:cNvCxnSpPr>
            <a:cxnSpLocks/>
          </p:cNvCxnSpPr>
          <p:nvPr/>
        </p:nvCxnSpPr>
        <p:spPr>
          <a:xfrm>
            <a:off x="661851" y="3840480"/>
            <a:ext cx="10691948" cy="0"/>
          </a:xfrm>
          <a:prstGeom prst="line">
            <a:avLst/>
          </a:prstGeom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0" name="Picture 19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2D0D269F-63FA-B2F6-22B9-E248327EE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672" y="4905627"/>
            <a:ext cx="2472742" cy="842011"/>
          </a:xfrm>
          <a:prstGeom prst="rect">
            <a:avLst/>
          </a:prstGeom>
        </p:spPr>
      </p:pic>
      <p:pic>
        <p:nvPicPr>
          <p:cNvPr id="22" name="Picture 21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33CBE2C0-1207-FD1E-19A8-7C8084E0D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9352" y="2280501"/>
            <a:ext cx="2819400" cy="571500"/>
          </a:xfrm>
          <a:prstGeom prst="rect">
            <a:avLst/>
          </a:prstGeom>
        </p:spPr>
      </p:pic>
      <p:pic>
        <p:nvPicPr>
          <p:cNvPr id="24" name="Picture 23" descr="A cartoon chameleon holding a pencil&#10;&#10;AI-generated content may be incorrect.">
            <a:extLst>
              <a:ext uri="{FF2B5EF4-FFF2-40B4-BE49-F238E27FC236}">
                <a16:creationId xmlns:a16="http://schemas.microsoft.com/office/drawing/2014/main" id="{8441E79C-0805-3DD7-3922-AD333E7DDC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6583" y="2964669"/>
            <a:ext cx="1652711" cy="1606802"/>
          </a:xfrm>
          <a:prstGeom prst="rect">
            <a:avLst/>
          </a:prstGeom>
        </p:spPr>
      </p:pic>
      <p:pic>
        <p:nvPicPr>
          <p:cNvPr id="26" name="Picture 25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7B319824-0975-226A-916A-2519D7868A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0855" y="5120942"/>
            <a:ext cx="1397000" cy="419100"/>
          </a:xfrm>
          <a:prstGeom prst="rect">
            <a:avLst/>
          </a:prstGeom>
        </p:spPr>
      </p:pic>
      <p:pic>
        <p:nvPicPr>
          <p:cNvPr id="28" name="Picture 27" descr="A black and white logo&#10;&#10;AI-generated content may be incorrect.">
            <a:extLst>
              <a:ext uri="{FF2B5EF4-FFF2-40B4-BE49-F238E27FC236}">
                <a16:creationId xmlns:a16="http://schemas.microsoft.com/office/drawing/2014/main" id="{03652D36-C150-E364-D027-73C7D8AB8A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2517" y="3501468"/>
            <a:ext cx="2184400" cy="596900"/>
          </a:xfrm>
          <a:prstGeom prst="rect">
            <a:avLst/>
          </a:prstGeom>
        </p:spPr>
      </p:pic>
      <p:pic>
        <p:nvPicPr>
          <p:cNvPr id="30" name="Picture 29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F16B19E3-EDB7-4767-E662-762BF88101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1993" y="1374115"/>
            <a:ext cx="2551941" cy="857980"/>
          </a:xfrm>
          <a:prstGeom prst="rect">
            <a:avLst/>
          </a:prstGeom>
        </p:spPr>
      </p:pic>
      <p:pic>
        <p:nvPicPr>
          <p:cNvPr id="32" name="Picture 31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458D5F6D-80E6-D67B-C425-8AFEBEC1054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78330" y="1869591"/>
            <a:ext cx="1689100" cy="596900"/>
          </a:xfrm>
          <a:prstGeom prst="rect">
            <a:avLst/>
          </a:prstGeom>
        </p:spPr>
      </p:pic>
      <p:pic>
        <p:nvPicPr>
          <p:cNvPr id="34" name="Picture 33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1EA94C58-F4D5-71CE-58E1-39C1C8756E0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13734" y="1461626"/>
            <a:ext cx="2034861" cy="374097"/>
          </a:xfrm>
          <a:prstGeom prst="rect">
            <a:avLst/>
          </a:prstGeom>
        </p:spPr>
      </p:pic>
      <p:pic>
        <p:nvPicPr>
          <p:cNvPr id="36" name="Picture 35" descr="A blue sign with white text&#10;&#10;AI-generated content may be incorrect.">
            <a:extLst>
              <a:ext uri="{FF2B5EF4-FFF2-40B4-BE49-F238E27FC236}">
                <a16:creationId xmlns:a16="http://schemas.microsoft.com/office/drawing/2014/main" id="{C7DFCEFA-5EC9-B94A-9D42-7353FE98D3A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42436" y="5162950"/>
            <a:ext cx="1409700" cy="368300"/>
          </a:xfrm>
          <a:prstGeom prst="rect">
            <a:avLst/>
          </a:prstGeom>
        </p:spPr>
      </p:pic>
      <p:pic>
        <p:nvPicPr>
          <p:cNvPr id="38" name="Picture 37" descr="A close up of a sign&#10;&#10;AI-generated content may be incorrect.">
            <a:extLst>
              <a:ext uri="{FF2B5EF4-FFF2-40B4-BE49-F238E27FC236}">
                <a16:creationId xmlns:a16="http://schemas.microsoft.com/office/drawing/2014/main" id="{623AA9C3-4F53-C66F-C5F6-8CBD89CE1A1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45034" y="5020580"/>
            <a:ext cx="990600" cy="368300"/>
          </a:xfrm>
          <a:prstGeom prst="rect">
            <a:avLst/>
          </a:prstGeom>
        </p:spPr>
      </p:pic>
      <p:pic>
        <p:nvPicPr>
          <p:cNvPr id="40" name="Picture 39" descr="A close up of a logo&#10;&#10;AI-generated content may be incorrect.">
            <a:extLst>
              <a:ext uri="{FF2B5EF4-FFF2-40B4-BE49-F238E27FC236}">
                <a16:creationId xmlns:a16="http://schemas.microsoft.com/office/drawing/2014/main" id="{B360EC8F-0C3F-0729-D9A9-FCFAF26AC7C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89763" y="4532142"/>
            <a:ext cx="1651000" cy="368300"/>
          </a:xfrm>
          <a:prstGeom prst="rect">
            <a:avLst/>
          </a:prstGeom>
        </p:spPr>
      </p:pic>
      <p:pic>
        <p:nvPicPr>
          <p:cNvPr id="41" name="Picture 40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A587CDEF-B309-650B-29DA-20E6D8ACC2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311" y="2268838"/>
            <a:ext cx="28194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114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04ECC-5DAD-985D-B808-0F827FA79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L</a:t>
            </a:r>
            <a:r>
              <a:rPr lang="en-NL" dirty="0"/>
              <a:t>ocal vs Online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696D0-9C1E-C4DE-0215-074B0579EA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NL" dirty="0"/>
              <a:t>Geen onverwachte wijzigingen in de functionaliteit</a:t>
            </a:r>
          </a:p>
          <a:p>
            <a:r>
              <a:rPr lang="en-NL" dirty="0"/>
              <a:t>Niet afhankelijk van netwerk connectiviteit</a:t>
            </a:r>
          </a:p>
          <a:p>
            <a:r>
              <a:rPr lang="en-NL" dirty="0"/>
              <a:t>Ruimere keuze voor physical computing hardware</a:t>
            </a:r>
          </a:p>
          <a:p>
            <a:endParaRPr lang="en-N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F4772-0D6C-C508-1FC0-E170BD593A6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NL" dirty="0"/>
              <a:t>Geen gedoe met installeren</a:t>
            </a:r>
          </a:p>
          <a:p>
            <a:r>
              <a:rPr lang="en-NL" dirty="0"/>
              <a:t>Werkt op chromebooks</a:t>
            </a:r>
          </a:p>
          <a:p>
            <a:r>
              <a:rPr lang="en-NL" dirty="0"/>
              <a:t>Volgende keer verder werken op andere computer</a:t>
            </a:r>
          </a:p>
          <a:p>
            <a:endParaRPr lang="en-NL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A3C2BE5-44F6-4C30-D7AD-985BDCE2C10B}"/>
              </a:ext>
            </a:extLst>
          </p:cNvPr>
          <p:cNvCxnSpPr/>
          <p:nvPr/>
        </p:nvCxnSpPr>
        <p:spPr>
          <a:xfrm>
            <a:off x="6019800" y="1370375"/>
            <a:ext cx="0" cy="5259977"/>
          </a:xfrm>
          <a:prstGeom prst="line">
            <a:avLst/>
          </a:prstGeom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41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41641-1662-7D5F-F242-46EE8920C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17860-258F-2E1F-1E4A-0E3F486E8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NL" dirty="0"/>
              <a:t>Universeel vs taal-specifiek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92933-2FAC-4C9D-9E2C-693521A26D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NL" dirty="0"/>
              <a:t>Dezelfde omgeving voor (bijna) alle technieken (html, python, sql …)</a:t>
            </a:r>
          </a:p>
          <a:p>
            <a:r>
              <a:rPr lang="en-NL" dirty="0"/>
              <a:t>Lijkt meer op wat professionals gebruiken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9DF541-541D-8D40-4DFB-F39681BACB2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NL" dirty="0"/>
              <a:t>Eenvoudig instappen</a:t>
            </a:r>
          </a:p>
          <a:p>
            <a:r>
              <a:rPr lang="en-NL" dirty="0"/>
              <a:t>Meer functionaliteit voor gekozen taal (geldt tegenwoordig nauwelijks meer)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44061-320D-BBC1-D181-4E72C0B39AC7}"/>
              </a:ext>
            </a:extLst>
          </p:cNvPr>
          <p:cNvCxnSpPr/>
          <p:nvPr/>
        </p:nvCxnSpPr>
        <p:spPr>
          <a:xfrm>
            <a:off x="6019800" y="1370375"/>
            <a:ext cx="0" cy="5259977"/>
          </a:xfrm>
          <a:prstGeom prst="line">
            <a:avLst/>
          </a:prstGeom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4535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46E4C-E7B9-41C9-C686-6575B99FB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mputer script on a screen">
            <a:extLst>
              <a:ext uri="{FF2B5EF4-FFF2-40B4-BE49-F238E27FC236}">
                <a16:creationId xmlns:a16="http://schemas.microsoft.com/office/drawing/2014/main" id="{9AE65006-353F-970F-DE36-D95C55947BA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t="5625" b="10105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43AFD0-E573-F576-DA3B-01ED45A2DD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NL" dirty="0"/>
              <a:t>Backup Slides</a:t>
            </a:r>
            <a:br>
              <a:rPr lang="en-NL" dirty="0"/>
            </a:br>
            <a:r>
              <a:rPr lang="en-NL" dirty="0"/>
              <a:t>Codespaces</a:t>
            </a:r>
            <a:endParaRPr lang="en-NL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FA8B6-444C-D45F-B362-C20144F0F5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endParaRPr lang="en-NL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5463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5BE11F8-587B-5E70-9326-7E7AD4087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Codespaces key components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7C34F1A6-2C14-8EB4-8044-C450F046E8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142080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8788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7347D-0F96-0BB0-0F19-771884372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Remote development with VS Code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B9569-0EFC-9599-A118-1E467F888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1026" name="Picture 2" descr="Architecture diagram">
            <a:extLst>
              <a:ext uri="{FF2B5EF4-FFF2-40B4-BE49-F238E27FC236}">
                <a16:creationId xmlns:a16="http://schemas.microsoft.com/office/drawing/2014/main" id="{C189BE65-D746-E0D4-4CED-6CC571C807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90688"/>
            <a:ext cx="12192000" cy="4221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A2F8D4-8959-CDAC-9F7F-A822BFF9943F}"/>
              </a:ext>
            </a:extLst>
          </p:cNvPr>
          <p:cNvSpPr txBox="1"/>
          <p:nvPr/>
        </p:nvSpPr>
        <p:spPr>
          <a:xfrm>
            <a:off x="838199" y="6169709"/>
            <a:ext cx="95330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https://code.visualstudio.com/api/advanced-topics/remote-extensions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0078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51EA4-AF3C-8227-8838-8FC43E450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agram showing the relationship between a code editor and a codespace running on an Azure virtual machine.">
            <a:extLst>
              <a:ext uri="{FF2B5EF4-FFF2-40B4-BE49-F238E27FC236}">
                <a16:creationId xmlns:a16="http://schemas.microsoft.com/office/drawing/2014/main" id="{2EFEB598-D826-0CFD-FD0C-334AE760CE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4628" y="-12009"/>
            <a:ext cx="9608470" cy="6870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7C09B8-8363-3DD5-7377-F8A695CEE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Codespaces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4EF87B-F7B4-4D8E-4399-498109EE3235}"/>
              </a:ext>
            </a:extLst>
          </p:cNvPr>
          <p:cNvSpPr txBox="1"/>
          <p:nvPr/>
        </p:nvSpPr>
        <p:spPr>
          <a:xfrm>
            <a:off x="838200" y="6332815"/>
            <a:ext cx="9029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https://docs.github.com/en/codespaces/about-codespaces/what-are-codespaces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487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C8213-1EB3-F4A5-7698-E2B6E7617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C92B8-7BB1-838F-CA81-60B93D103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L" dirty="0"/>
              <a:t>How git works</a:t>
            </a:r>
          </a:p>
        </p:txBody>
      </p:sp>
      <p:pic>
        <p:nvPicPr>
          <p:cNvPr id="14" name="Content Placeholder 1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7600D07-5292-9758-106C-6824699078A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22858" y="1750997"/>
            <a:ext cx="5181600" cy="3740975"/>
          </a:xfrm>
        </p:spPr>
      </p:pic>
      <p:pic>
        <p:nvPicPr>
          <p:cNvPr id="20" name="Content Placeholder 19" descr="A diagram of a diagram&#10;&#10;AI-generated content may be incorrect.">
            <a:extLst>
              <a:ext uri="{FF2B5EF4-FFF2-40B4-BE49-F238E27FC236}">
                <a16:creationId xmlns:a16="http://schemas.microsoft.com/office/drawing/2014/main" id="{82DCCC99-1F38-ABF8-6133-C38CE2A7AEF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25379" y="1445815"/>
            <a:ext cx="4974636" cy="4351337"/>
          </a:xfr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8375705-03B1-43AC-94BC-25F27E503686}"/>
              </a:ext>
            </a:extLst>
          </p:cNvPr>
          <p:cNvSpPr txBox="1"/>
          <p:nvPr/>
        </p:nvSpPr>
        <p:spPr>
          <a:xfrm>
            <a:off x="326858" y="604836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>
                <a:hlinkClick r:id="rId4"/>
              </a:rPr>
              <a:t>https://bytebytego.com/guides/how-does-git-work/</a:t>
            </a:r>
            <a:endParaRPr lang="en-NL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FD8CF1-A410-120E-4EB7-8EE5E5E2832F}"/>
              </a:ext>
            </a:extLst>
          </p:cNvPr>
          <p:cNvSpPr txBox="1"/>
          <p:nvPr/>
        </p:nvSpPr>
        <p:spPr>
          <a:xfrm>
            <a:off x="5706979" y="6048361"/>
            <a:ext cx="66133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>
                <a:hlinkClick r:id="rId5"/>
              </a:rPr>
              <a:t>https://github.com/marketplace/actions/gitflow-workflow-action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929218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8320351-9FA2-4A26-885B-BB8F3E490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CD2EFB-78C2-4C6E-A6B9-4ED12FAD5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Computer script on a screen">
            <a:extLst>
              <a:ext uri="{FF2B5EF4-FFF2-40B4-BE49-F238E27FC236}">
                <a16:creationId xmlns:a16="http://schemas.microsoft.com/office/drawing/2014/main" id="{67DC02E6-2103-F5A9-1D90-0370D982625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5625" b="10105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A20034-0065-181C-0E85-EFE2794C10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600427"/>
            <a:ext cx="9875520" cy="3299902"/>
          </a:xfrm>
        </p:spPr>
        <p:txBody>
          <a:bodyPr>
            <a:normAutofit/>
          </a:bodyPr>
          <a:lstStyle/>
          <a:p>
            <a:r>
              <a:rPr lang="en-NL" dirty="0">
                <a:solidFill>
                  <a:srgbClr val="FFFFFF"/>
                </a:solidFill>
              </a:rPr>
              <a:t>Backup slides</a:t>
            </a:r>
            <a:br>
              <a:rPr lang="en-NL" dirty="0">
                <a:solidFill>
                  <a:srgbClr val="FFFFFF"/>
                </a:solidFill>
              </a:rPr>
            </a:br>
            <a:r>
              <a:rPr lang="en-NL" dirty="0">
                <a:solidFill>
                  <a:srgbClr val="FFFFFF"/>
                </a:solidFill>
              </a:rPr>
              <a:t>aan de slag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F03696-9601-7BB2-C0BB-E19701732E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536" y="4072045"/>
            <a:ext cx="9875520" cy="1414355"/>
          </a:xfrm>
        </p:spPr>
        <p:txBody>
          <a:bodyPr>
            <a:normAutofit/>
          </a:bodyPr>
          <a:lstStyle/>
          <a:p>
            <a:pPr algn="l"/>
            <a:endParaRPr lang="en-NL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2533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8CECF-F4F9-1A63-D30D-266310F37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D0CBE-E8D1-4374-0279-F3083990C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Meer repositories met startcode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607E8-BC91-E9C2-2BA9-CAC6A5738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P</a:t>
            </a:r>
            <a:r>
              <a:rPr lang="en-NL" dirty="0"/>
              <a:t>ython</a:t>
            </a:r>
            <a:br>
              <a:rPr lang="en-NL" dirty="0"/>
            </a:br>
            <a:r>
              <a:rPr lang="en-GB" sz="2100" dirty="0">
                <a:hlinkClick r:id="rId2"/>
              </a:rPr>
              <a:t>https://github.com/informaticascw/h4v4-python-opgaven-template</a:t>
            </a:r>
            <a:endParaRPr lang="en-NL" sz="2100" dirty="0"/>
          </a:p>
          <a:p>
            <a:r>
              <a:rPr lang="en-NL" dirty="0"/>
              <a:t>Python met pygame</a:t>
            </a:r>
            <a:br>
              <a:rPr lang="en-NL" dirty="0"/>
            </a:br>
            <a:r>
              <a:rPr lang="en-GB" sz="1900" dirty="0">
                <a:hlinkClick r:id="rId3"/>
              </a:rPr>
              <a:t>https://github.com/informaticascw/h4v4-python-game-template</a:t>
            </a:r>
            <a:endParaRPr lang="en-NL" sz="1900" dirty="0"/>
          </a:p>
          <a:p>
            <a:r>
              <a:rPr lang="en-GB" dirty="0"/>
              <a:t>html/</a:t>
            </a:r>
            <a:r>
              <a:rPr lang="en-GB" dirty="0" err="1"/>
              <a:t>css</a:t>
            </a:r>
            <a:r>
              <a:rPr lang="en-GB" dirty="0"/>
              <a:t>/</a:t>
            </a:r>
            <a:r>
              <a:rPr lang="en-GB" dirty="0" err="1"/>
              <a:t>javascript</a:t>
            </a:r>
            <a:br>
              <a:rPr lang="en-GB" dirty="0"/>
            </a:br>
            <a:r>
              <a:rPr lang="en-GB" sz="1900" dirty="0">
                <a:hlinkClick r:id="rId4"/>
              </a:rPr>
              <a:t>https://github.com/informaticascw/h4v4-html-website-template</a:t>
            </a:r>
            <a:endParaRPr lang="en-GB" sz="1900" dirty="0"/>
          </a:p>
          <a:p>
            <a:r>
              <a:rPr lang="en-GB" dirty="0" err="1"/>
              <a:t>sqlite</a:t>
            </a:r>
            <a:r>
              <a:rPr lang="en-GB" dirty="0"/>
              <a:t> met python </a:t>
            </a:r>
            <a:r>
              <a:rPr lang="en-GB" dirty="0" err="1"/>
              <a:t>api</a:t>
            </a:r>
            <a:br>
              <a:rPr lang="en-GB" dirty="0"/>
            </a:br>
            <a:r>
              <a:rPr lang="en-GB" sz="1900" dirty="0">
                <a:hlinkClick r:id="rId5"/>
              </a:rPr>
              <a:t>https://github.com/informaticascw/h5v5-sql-webshop-template</a:t>
            </a:r>
            <a:endParaRPr lang="en-GB" sz="1900" dirty="0"/>
          </a:p>
          <a:p>
            <a:r>
              <a:rPr lang="en-GB" dirty="0" err="1"/>
              <a:t>sqlite</a:t>
            </a:r>
            <a:r>
              <a:rPr lang="en-GB" dirty="0"/>
              <a:t> met </a:t>
            </a:r>
            <a:r>
              <a:rPr lang="en-GB" dirty="0" err="1"/>
              <a:t>nodejs</a:t>
            </a:r>
            <a:r>
              <a:rPr lang="en-GB" dirty="0"/>
              <a:t> </a:t>
            </a:r>
            <a:r>
              <a:rPr lang="en-GB" dirty="0" err="1"/>
              <a:t>api</a:t>
            </a:r>
            <a:br>
              <a:rPr lang="en-GB" dirty="0"/>
            </a:br>
            <a:r>
              <a:rPr lang="en-GB" sz="1900" dirty="0">
                <a:hlinkClick r:id="rId6"/>
              </a:rPr>
              <a:t>https://github.com/emmauscollege/5HV-webshop-template</a:t>
            </a:r>
            <a:endParaRPr lang="en-GB" sz="1900" dirty="0"/>
          </a:p>
          <a:p>
            <a:r>
              <a:rPr lang="en-GB" dirty="0"/>
              <a:t>PHP met DB</a:t>
            </a:r>
            <a:br>
              <a:rPr lang="en-GB" dirty="0"/>
            </a:br>
            <a:r>
              <a:rPr lang="en-GB" sz="1900" dirty="0">
                <a:hlinkClick r:id="rId7"/>
              </a:rPr>
              <a:t>https://github.com/informaticascw/v6-eindopdracht-php-startcode</a:t>
            </a:r>
            <a:endParaRPr lang="en-GB" sz="1900" dirty="0"/>
          </a:p>
          <a:p>
            <a:r>
              <a:rPr lang="en-GB" dirty="0"/>
              <a:t>Filius</a:t>
            </a:r>
            <a:br>
              <a:rPr lang="en-GB" dirty="0"/>
            </a:br>
            <a:r>
              <a:rPr lang="en-GB" sz="1900" dirty="0">
                <a:hlinkClick r:id="rId8"/>
              </a:rPr>
              <a:t>https://github.com/informaticascw/filius</a:t>
            </a:r>
            <a:endParaRPr lang="en-GB" sz="1900" dirty="0"/>
          </a:p>
          <a:p>
            <a:endParaRPr lang="en-NL" dirty="0"/>
          </a:p>
          <a:p>
            <a:endParaRPr lang="en-NL" dirty="0"/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022633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6AEFF-FAA0-3F3D-0A68-2067CAE4C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600" b="1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</a:t>
            </a:r>
            <a:r>
              <a:rPr lang="en-GB" sz="2600" b="1" dirty="0" err="1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devcontainer</a:t>
            </a:r>
            <a:r>
              <a:rPr lang="en-GB" sz="2600" b="1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</a:t>
            </a:r>
            <a:r>
              <a:rPr lang="en-GB" sz="2600" b="1" dirty="0" err="1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devcontainer.json</a:t>
            </a:r>
            <a:endParaRPr lang="en-GB" sz="2600" b="1" dirty="0">
              <a:solidFill>
                <a:schemeClr val="bg1">
                  <a:lumMod val="5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buNone/>
            </a:pP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 // For format details, see https://</a:t>
            </a:r>
            <a:r>
              <a:rPr lang="en-GB" sz="1800" dirty="0" err="1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aka.ms</a:t>
            </a: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</a:t>
            </a:r>
            <a:r>
              <a:rPr lang="en-GB" sz="1800" dirty="0" err="1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devcontainer.json</a:t>
            </a:r>
            <a:endParaRPr lang="en-GB" sz="1800" dirty="0">
              <a:solidFill>
                <a:schemeClr val="bg1">
                  <a:lumMod val="5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buNone/>
            </a:pP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"image": "</a:t>
            </a:r>
            <a:r>
              <a:rPr lang="en-GB" sz="1800" dirty="0" err="1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mcr.microsoft.com</a:t>
            </a: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</a:t>
            </a:r>
            <a:r>
              <a:rPr lang="en-GB" sz="1800" dirty="0" err="1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devcontainers</a:t>
            </a: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/python:3.13-trixie",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"features": { "</a:t>
            </a:r>
            <a:r>
              <a:rPr lang="en-GB" sz="1800" dirty="0" err="1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ghcr.io</a:t>
            </a: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</a:t>
            </a:r>
            <a:r>
              <a:rPr lang="en-GB" sz="1800" dirty="0" err="1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devcontainers</a:t>
            </a: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/features/</a:t>
            </a:r>
            <a:r>
              <a:rPr lang="en-GB" sz="1800" dirty="0" err="1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desktop-lite:latest</a:t>
            </a: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": {} },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</a:t>
            </a:r>
            <a:r>
              <a:rPr lang="en-GB" sz="1800" dirty="0" err="1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postCreateCommand</a:t>
            </a: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": "bash .</a:t>
            </a:r>
            <a:r>
              <a:rPr lang="en-GB" sz="1800" dirty="0" err="1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devcontainer</a:t>
            </a: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</a:t>
            </a:r>
            <a:r>
              <a:rPr lang="en-GB" sz="1800" dirty="0" err="1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postCreateCommand.sh</a:t>
            </a: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",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"customizations": { "</a:t>
            </a:r>
            <a:r>
              <a:rPr lang="en-GB" sz="1800" dirty="0" err="1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vscode</a:t>
            </a: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": { "extensions": [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	"</a:t>
            </a:r>
            <a:r>
              <a:rPr lang="en-GB" sz="1800" dirty="0" err="1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ms-vsliveshare.vsliveshare</a:t>
            </a: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]}}}</a:t>
            </a:r>
          </a:p>
          <a:p>
            <a:pPr marL="0" indent="0">
              <a:buNone/>
            </a:pPr>
            <a:endParaRPr lang="en-GB" sz="1800" dirty="0">
              <a:solidFill>
                <a:schemeClr val="bg1">
                  <a:lumMod val="5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buNone/>
            </a:pPr>
            <a:r>
              <a:rPr lang="en-GB" sz="2600" b="1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</a:t>
            </a:r>
            <a:r>
              <a:rPr lang="en-GB" sz="2600" b="1" dirty="0" err="1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vscode</a:t>
            </a:r>
            <a:r>
              <a:rPr lang="en-GB" sz="2600" b="1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</a:t>
            </a:r>
            <a:r>
              <a:rPr lang="en-GB" sz="2600" b="1" dirty="0" err="1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settings.json</a:t>
            </a:r>
            <a:endParaRPr lang="en-GB" sz="2600" b="1" dirty="0">
              <a:solidFill>
                <a:schemeClr val="bg1">
                  <a:lumMod val="5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marL="0" indent="0">
              <a:buNone/>
            </a:pP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 // hide some popups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</a:t>
            </a:r>
            <a:r>
              <a:rPr lang="en-GB" sz="1800" dirty="0" err="1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extensions.ignoreRecommendations</a:t>
            </a: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": true, 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</a:t>
            </a:r>
            <a:r>
              <a:rPr lang="en-GB" sz="1800" dirty="0" err="1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terminal.integrated.sendKeybindingsToShell</a:t>
            </a: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": true,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</a:t>
            </a:r>
            <a:r>
              <a:rPr lang="en-GB" sz="1800" dirty="0" err="1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python.createEnvironment.trigger</a:t>
            </a: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": "off"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</a:t>
            </a:r>
            <a:endParaRPr lang="en-NL" sz="1800" dirty="0">
              <a:solidFill>
                <a:schemeClr val="bg1">
                  <a:lumMod val="50000"/>
                </a:schemeClr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39053-1ADE-36AE-C059-6FB717B36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</a:t>
            </a:r>
            <a:r>
              <a:rPr lang="en-NL" dirty="0"/>
              <a:t>onfiguratie (devcontainer)</a:t>
            </a:r>
            <a:br>
              <a:rPr lang="en-NL" dirty="0"/>
            </a:br>
            <a:r>
              <a:rPr lang="en-NL" dirty="0"/>
              <a:t>zie </a:t>
            </a:r>
            <a:r>
              <a:rPr lang="en-GB" dirty="0">
                <a:hlinkClick r:id="rId2"/>
              </a:rPr>
              <a:t>https://github.com/informatica-actief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843933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37741A-3808-AE88-1498-6C1A6A375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omputer script on a screen">
            <a:extLst>
              <a:ext uri="{FF2B5EF4-FFF2-40B4-BE49-F238E27FC236}">
                <a16:creationId xmlns:a16="http://schemas.microsoft.com/office/drawing/2014/main" id="{5CDBE31D-88CC-34AB-13AE-FA3FEA7DAAE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5625" b="10105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39945B-631B-D8EA-A04A-F0D97542B1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NL" dirty="0">
                <a:solidFill>
                  <a:srgbClr val="FFFFFF"/>
                </a:solidFill>
              </a:rPr>
              <a:t>Backup slides</a:t>
            </a:r>
            <a:br>
              <a:rPr lang="en-NL" dirty="0">
                <a:solidFill>
                  <a:srgbClr val="FFFFFF"/>
                </a:solidFill>
              </a:rPr>
            </a:br>
            <a:r>
              <a:rPr lang="en-NL" dirty="0">
                <a:solidFill>
                  <a:srgbClr val="FFFFFF"/>
                </a:solidFill>
              </a:rPr>
              <a:t>GitHub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3B4716-DA19-4D18-7BF7-07F5E2793D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endParaRPr lang="en-NL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4403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CE637-94CE-4A07-5D7B-184AA8073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CF1DF-F504-7644-3BFC-87311A124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52289-693F-EABB-67B5-4329FAC22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642982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9BD3B-64B9-0700-061B-46D6FAA81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mputer script on a screen">
            <a:extLst>
              <a:ext uri="{FF2B5EF4-FFF2-40B4-BE49-F238E27FC236}">
                <a16:creationId xmlns:a16="http://schemas.microsoft.com/office/drawing/2014/main" id="{708359FE-76DB-4DF5-FEC0-B1FE410ADA6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5625" b="10105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E3F6C6-52F0-7E42-B67D-5B13C44318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NL" dirty="0">
                <a:solidFill>
                  <a:srgbClr val="FFFFFF"/>
                </a:solidFill>
              </a:rPr>
              <a:t>Backup slides</a:t>
            </a:r>
            <a:br>
              <a:rPr lang="en-NL" dirty="0">
                <a:solidFill>
                  <a:srgbClr val="FFFFFF"/>
                </a:solidFill>
              </a:rPr>
            </a:br>
            <a:r>
              <a:rPr lang="en-NL" dirty="0">
                <a:solidFill>
                  <a:srgbClr val="FFFFFF"/>
                </a:solidFill>
              </a:rPr>
              <a:t>aankondiging workshop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9386EC-6CC0-0BB0-16D5-19F9E4C38F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endParaRPr lang="en-NL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8320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2A601-D2B0-3E60-33B5-807975F33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B384B-40BD-6941-E382-292A774E3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Aankondigingstekst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6957E-94F7-3072-8CF9-99F3AC02F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9070"/>
            <a:ext cx="10515600" cy="4847893"/>
          </a:xfrm>
        </p:spPr>
        <p:txBody>
          <a:bodyPr>
            <a:normAutofit fontScale="47500" lnSpcReduction="20000"/>
          </a:bodyPr>
          <a:lstStyle/>
          <a:p>
            <a:endParaRPr lang="en-NL" dirty="0"/>
          </a:p>
          <a:p>
            <a:pPr marL="0" indent="0" fontAlgn="base">
              <a:buNone/>
            </a:pPr>
            <a:r>
              <a:rPr lang="en-GB" dirty="0"/>
              <a:t>Titel: 			</a:t>
            </a:r>
            <a:r>
              <a:rPr lang="en-GB" dirty="0" err="1"/>
              <a:t>Codespaces</a:t>
            </a:r>
            <a:r>
              <a:rPr lang="en-GB" dirty="0"/>
              <a:t>: online </a:t>
            </a:r>
            <a:r>
              <a:rPr lang="en-GB" dirty="0" err="1"/>
              <a:t>ontwikkelomgeving</a:t>
            </a:r>
            <a:r>
              <a:rPr lang="en-GB" dirty="0"/>
              <a:t>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praktische</a:t>
            </a:r>
            <a:r>
              <a:rPr lang="en-GB" dirty="0"/>
              <a:t> </a:t>
            </a:r>
            <a:r>
              <a:rPr lang="en-GB" dirty="0" err="1"/>
              <a:t>opdrachten</a:t>
            </a:r>
            <a:r>
              <a:rPr lang="en-GB" dirty="0"/>
              <a:t>.</a:t>
            </a:r>
          </a:p>
          <a:p>
            <a:pPr marL="0" indent="0" fontAlgn="base">
              <a:buNone/>
            </a:pPr>
            <a:r>
              <a:rPr lang="en-GB" dirty="0" err="1"/>
              <a:t>Workshopgever</a:t>
            </a:r>
            <a:r>
              <a:rPr lang="en-GB" dirty="0"/>
              <a:t>:		Sander van Geest</a:t>
            </a:r>
          </a:p>
          <a:p>
            <a:pPr marL="0" indent="0" fontAlgn="base">
              <a:buNone/>
            </a:pPr>
            <a:r>
              <a:rPr lang="en-GB" dirty="0"/>
              <a:t>Korte </a:t>
            </a:r>
            <a:r>
              <a:rPr lang="en-GB" dirty="0" err="1"/>
              <a:t>omschrijving</a:t>
            </a:r>
            <a:r>
              <a:rPr lang="en-GB" dirty="0"/>
              <a:t> workshop: </a:t>
            </a:r>
            <a:br>
              <a:rPr lang="en-GB" dirty="0"/>
            </a:br>
            <a:r>
              <a:rPr lang="en-GB" dirty="0" err="1"/>
              <a:t>Deze</a:t>
            </a:r>
            <a:r>
              <a:rPr lang="en-GB" dirty="0"/>
              <a:t> workshop </a:t>
            </a:r>
            <a:r>
              <a:rPr lang="en-GB" dirty="0" err="1"/>
              <a:t>toont</a:t>
            </a:r>
            <a:r>
              <a:rPr lang="en-GB" dirty="0"/>
              <a:t> het </a:t>
            </a:r>
            <a:r>
              <a:rPr lang="en-GB" dirty="0" err="1"/>
              <a:t>gebruik</a:t>
            </a:r>
            <a:r>
              <a:rPr lang="en-GB" dirty="0"/>
              <a:t> van de </a:t>
            </a:r>
            <a:r>
              <a:rPr lang="en-GB" dirty="0" err="1"/>
              <a:t>programmeeromgeving</a:t>
            </a:r>
            <a:r>
              <a:rPr lang="en-GB" dirty="0"/>
              <a:t> </a:t>
            </a:r>
            <a:r>
              <a:rPr lang="en-GB" dirty="0" err="1"/>
              <a:t>Codespaces</a:t>
            </a:r>
            <a:r>
              <a:rPr lang="en-GB" dirty="0"/>
              <a:t>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praktische</a:t>
            </a:r>
            <a:r>
              <a:rPr lang="en-GB" dirty="0"/>
              <a:t> </a:t>
            </a:r>
            <a:r>
              <a:rPr lang="en-GB" dirty="0" err="1"/>
              <a:t>opdrachten</a:t>
            </a:r>
            <a:r>
              <a:rPr lang="en-GB" dirty="0"/>
              <a:t>. </a:t>
            </a:r>
            <a:br>
              <a:rPr lang="en-GB" dirty="0"/>
            </a:br>
            <a:r>
              <a:rPr lang="en-GB" dirty="0"/>
              <a:t>Na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toelichting</a:t>
            </a:r>
            <a:r>
              <a:rPr lang="en-GB" dirty="0"/>
              <a:t> over de </a:t>
            </a:r>
            <a:r>
              <a:rPr lang="en-GB" dirty="0" err="1"/>
              <a:t>mogelijkheden</a:t>
            </a:r>
            <a:r>
              <a:rPr lang="en-GB" dirty="0"/>
              <a:t> ga je </a:t>
            </a:r>
            <a:r>
              <a:rPr lang="en-GB" dirty="0" err="1"/>
              <a:t>zelf</a:t>
            </a:r>
            <a:r>
              <a:rPr lang="en-GB" dirty="0"/>
              <a:t> </a:t>
            </a:r>
            <a:r>
              <a:rPr lang="en-GB" dirty="0" err="1"/>
              <a:t>aan</a:t>
            </a:r>
            <a:r>
              <a:rPr lang="en-GB" dirty="0"/>
              <a:t> de slag.</a:t>
            </a:r>
          </a:p>
          <a:p>
            <a:pPr marL="0" indent="0" fontAlgn="base">
              <a:buNone/>
            </a:pPr>
            <a:r>
              <a:rPr lang="en-GB" dirty="0" err="1"/>
              <a:t>Enkele</a:t>
            </a:r>
            <a:r>
              <a:rPr lang="en-GB" dirty="0"/>
              <a:t> </a:t>
            </a:r>
            <a:r>
              <a:rPr lang="en-GB" dirty="0" err="1"/>
              <a:t>karakteristieken</a:t>
            </a:r>
            <a:r>
              <a:rPr lang="en-GB" dirty="0"/>
              <a:t> van </a:t>
            </a:r>
            <a:r>
              <a:rPr lang="en-GB" dirty="0" err="1"/>
              <a:t>Codespaces</a:t>
            </a:r>
            <a:r>
              <a:rPr lang="en-GB" dirty="0"/>
              <a:t>:</a:t>
            </a:r>
          </a:p>
          <a:p>
            <a:pPr fontAlgn="base"/>
            <a:r>
              <a:rPr lang="en-GB" dirty="0" err="1"/>
              <a:t>Werkt</a:t>
            </a:r>
            <a:r>
              <a:rPr lang="en-GB" dirty="0"/>
              <a:t> in de browser, </a:t>
            </a:r>
            <a:r>
              <a:rPr lang="en-GB" dirty="0" err="1"/>
              <a:t>zonder</a:t>
            </a:r>
            <a:r>
              <a:rPr lang="en-GB" dirty="0"/>
              <a:t> </a:t>
            </a:r>
            <a:r>
              <a:rPr lang="en-GB" dirty="0" err="1"/>
              <a:t>iets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installeren</a:t>
            </a:r>
            <a:r>
              <a:rPr lang="en-GB" dirty="0"/>
              <a:t>, </a:t>
            </a:r>
            <a:r>
              <a:rPr lang="en-GB" dirty="0" err="1"/>
              <a:t>ook</a:t>
            </a:r>
            <a:r>
              <a:rPr lang="en-GB" dirty="0"/>
              <a:t> op Chromebooks.</a:t>
            </a:r>
          </a:p>
          <a:p>
            <a:pPr fontAlgn="base"/>
            <a:r>
              <a:rPr lang="en-GB" dirty="0"/>
              <a:t>GitHub </a:t>
            </a:r>
            <a:r>
              <a:rPr lang="en-GB" dirty="0" err="1"/>
              <a:t>en</a:t>
            </a:r>
            <a:r>
              <a:rPr lang="en-GB" dirty="0"/>
              <a:t> VS Code </a:t>
            </a:r>
            <a:r>
              <a:rPr lang="en-GB" dirty="0" err="1"/>
              <a:t>zijn</a:t>
            </a:r>
            <a:r>
              <a:rPr lang="en-GB" dirty="0"/>
              <a:t> </a:t>
            </a:r>
            <a:r>
              <a:rPr lang="en-GB" dirty="0" err="1"/>
              <a:t>geïntegreerd</a:t>
            </a:r>
            <a:r>
              <a:rPr lang="en-GB" dirty="0"/>
              <a:t>.</a:t>
            </a:r>
          </a:p>
          <a:p>
            <a:pPr fontAlgn="base"/>
            <a:r>
              <a:rPr lang="en-GB" dirty="0"/>
              <a:t>Werk op basis van </a:t>
            </a:r>
            <a:r>
              <a:rPr lang="en-GB" dirty="0" err="1"/>
              <a:t>virtuele</a:t>
            </a:r>
            <a:r>
              <a:rPr lang="en-GB" dirty="0"/>
              <a:t> machine met Linux in de cloud, alle </a:t>
            </a:r>
            <a:r>
              <a:rPr lang="en-GB" dirty="0" err="1"/>
              <a:t>programmeertalen</a:t>
            </a:r>
            <a:r>
              <a:rPr lang="en-GB" dirty="0"/>
              <a:t> </a:t>
            </a:r>
            <a:r>
              <a:rPr lang="en-GB" dirty="0" err="1"/>
              <a:t>mogelijk</a:t>
            </a:r>
            <a:r>
              <a:rPr lang="en-GB" dirty="0"/>
              <a:t>.</a:t>
            </a:r>
          </a:p>
          <a:p>
            <a:pPr fontAlgn="base"/>
            <a:r>
              <a:rPr lang="en-GB" dirty="0" err="1"/>
              <a:t>Leerlingen</a:t>
            </a:r>
            <a:r>
              <a:rPr lang="en-GB" dirty="0"/>
              <a:t> </a:t>
            </a:r>
            <a:r>
              <a:rPr lang="en-GB" dirty="0" err="1"/>
              <a:t>kunnen</a:t>
            </a:r>
            <a:r>
              <a:rPr lang="en-GB" dirty="0"/>
              <a:t> </a:t>
            </a:r>
            <a:r>
              <a:rPr lang="en-GB" dirty="0" err="1"/>
              <a:t>samenwerken</a:t>
            </a:r>
            <a:r>
              <a:rPr lang="en-GB" dirty="0"/>
              <a:t> </a:t>
            </a:r>
            <a:r>
              <a:rPr lang="en-GB" dirty="0" err="1"/>
              <a:t>als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pro via GitHub of pair-</a:t>
            </a:r>
            <a:r>
              <a:rPr lang="en-GB" dirty="0" err="1"/>
              <a:t>coden</a:t>
            </a:r>
            <a:r>
              <a:rPr lang="en-GB" dirty="0"/>
              <a:t> met Live Share.</a:t>
            </a:r>
          </a:p>
          <a:p>
            <a:pPr fontAlgn="base"/>
            <a:r>
              <a:rPr lang="en-GB" dirty="0"/>
              <a:t>Docent </a:t>
            </a:r>
            <a:r>
              <a:rPr lang="en-GB" dirty="0" err="1"/>
              <a:t>kan</a:t>
            </a:r>
            <a:r>
              <a:rPr lang="en-GB" dirty="0"/>
              <a:t> </a:t>
            </a:r>
            <a:r>
              <a:rPr lang="en-GB" dirty="0" err="1"/>
              <a:t>startcode</a:t>
            </a:r>
            <a:r>
              <a:rPr lang="en-GB" dirty="0"/>
              <a:t> </a:t>
            </a:r>
            <a:r>
              <a:rPr lang="en-GB" dirty="0" err="1"/>
              <a:t>klaarzetten</a:t>
            </a:r>
            <a:r>
              <a:rPr lang="en-GB" dirty="0"/>
              <a:t>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leerlingen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meekijken</a:t>
            </a:r>
            <a:r>
              <a:rPr lang="en-GB" dirty="0"/>
              <a:t> met de </a:t>
            </a:r>
            <a:r>
              <a:rPr lang="en-GB" dirty="0" err="1"/>
              <a:t>resultaten</a:t>
            </a:r>
            <a:r>
              <a:rPr lang="en-GB" dirty="0"/>
              <a:t>.</a:t>
            </a:r>
          </a:p>
          <a:p>
            <a:pPr fontAlgn="base"/>
            <a:r>
              <a:rPr lang="en-GB" dirty="0" err="1"/>
              <a:t>Onderdeel</a:t>
            </a:r>
            <a:r>
              <a:rPr lang="en-GB" dirty="0"/>
              <a:t> van GitHub, </a:t>
            </a:r>
            <a:r>
              <a:rPr lang="en-GB" dirty="0" err="1"/>
              <a:t>eigenaar</a:t>
            </a:r>
            <a:r>
              <a:rPr lang="en-GB" dirty="0"/>
              <a:t> is Microsoft, </a:t>
            </a:r>
            <a:r>
              <a:rPr lang="en-GB" dirty="0" err="1"/>
              <a:t>grote</a:t>
            </a:r>
            <a:r>
              <a:rPr lang="en-GB" dirty="0"/>
              <a:t> </a:t>
            </a:r>
            <a:r>
              <a:rPr lang="en-GB" dirty="0" err="1"/>
              <a:t>gebruikersgroep</a:t>
            </a:r>
            <a:r>
              <a:rPr lang="en-GB" dirty="0"/>
              <a:t>, </a:t>
            </a:r>
            <a:r>
              <a:rPr lang="en-GB" dirty="0" err="1"/>
              <a:t>inclusief</a:t>
            </a:r>
            <a:r>
              <a:rPr lang="en-GB" dirty="0"/>
              <a:t> </a:t>
            </a:r>
            <a:r>
              <a:rPr lang="en-GB" dirty="0" err="1"/>
              <a:t>educatie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professionele</a:t>
            </a:r>
            <a:r>
              <a:rPr lang="en-GB" dirty="0"/>
              <a:t> IT-</a:t>
            </a:r>
            <a:r>
              <a:rPr lang="en-GB" dirty="0" err="1"/>
              <a:t>bedrijven</a:t>
            </a:r>
            <a:r>
              <a:rPr lang="en-GB" dirty="0"/>
              <a:t>.</a:t>
            </a:r>
          </a:p>
          <a:p>
            <a:pPr fontAlgn="base"/>
            <a:r>
              <a:rPr lang="en-GB" dirty="0"/>
              <a:t>Gratis account met </a:t>
            </a:r>
            <a:r>
              <a:rPr lang="en-GB" dirty="0" err="1"/>
              <a:t>voldoende</a:t>
            </a:r>
            <a:r>
              <a:rPr lang="en-GB" dirty="0"/>
              <a:t> </a:t>
            </a:r>
            <a:r>
              <a:rPr lang="en-GB" dirty="0" err="1"/>
              <a:t>mogelijkheden</a:t>
            </a:r>
            <a:r>
              <a:rPr lang="en-GB" dirty="0"/>
              <a:t>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leerlingen</a:t>
            </a:r>
            <a:r>
              <a:rPr lang="en-GB" dirty="0"/>
              <a:t>.</a:t>
            </a:r>
            <a:br>
              <a:rPr lang="en-GB" dirty="0"/>
            </a:br>
            <a:endParaRPr lang="en-GB" dirty="0"/>
          </a:p>
          <a:p>
            <a:pPr marL="0" indent="0" fontAlgn="base">
              <a:buNone/>
            </a:pPr>
            <a:r>
              <a:rPr lang="en-GB" dirty="0"/>
              <a:t>Korte </a:t>
            </a:r>
            <a:r>
              <a:rPr lang="en-GB" dirty="0" err="1"/>
              <a:t>omschrijving</a:t>
            </a:r>
            <a:r>
              <a:rPr lang="en-GB" dirty="0"/>
              <a:t> </a:t>
            </a:r>
            <a:r>
              <a:rPr lang="en-GB" dirty="0" err="1"/>
              <a:t>workshopgever</a:t>
            </a:r>
            <a:r>
              <a:rPr lang="en-GB" dirty="0"/>
              <a:t>:</a:t>
            </a:r>
          </a:p>
          <a:p>
            <a:pPr marL="0" indent="0" fontAlgn="base">
              <a:buNone/>
            </a:pPr>
            <a:r>
              <a:rPr lang="en-GB" dirty="0"/>
              <a:t>Sander van Geest is informatica docent </a:t>
            </a:r>
            <a:r>
              <a:rPr lang="en-GB" dirty="0" err="1"/>
              <a:t>aan</a:t>
            </a:r>
            <a:r>
              <a:rPr lang="en-GB" dirty="0"/>
              <a:t> het </a:t>
            </a:r>
            <a:r>
              <a:rPr lang="en-GB" dirty="0" err="1"/>
              <a:t>Stanislascollege</a:t>
            </a:r>
            <a:r>
              <a:rPr lang="en-GB" dirty="0"/>
              <a:t> </a:t>
            </a:r>
            <a:r>
              <a:rPr lang="en-GB" dirty="0" err="1"/>
              <a:t>Westplantsoen</a:t>
            </a:r>
            <a:r>
              <a:rPr lang="en-GB" dirty="0"/>
              <a:t> in Delft. </a:t>
            </a:r>
            <a:br>
              <a:rPr lang="en-GB" dirty="0"/>
            </a:br>
            <a:r>
              <a:rPr lang="en-GB" dirty="0"/>
              <a:t>Hij </a:t>
            </a:r>
            <a:r>
              <a:rPr lang="en-GB" dirty="0" err="1"/>
              <a:t>werkte</a:t>
            </a:r>
            <a:r>
              <a:rPr lang="en-GB" dirty="0"/>
              <a:t> </a:t>
            </a:r>
            <a:r>
              <a:rPr lang="en-GB" dirty="0" err="1"/>
              <a:t>ruim</a:t>
            </a:r>
            <a:r>
              <a:rPr lang="en-GB" dirty="0"/>
              <a:t> </a:t>
            </a:r>
            <a:r>
              <a:rPr lang="en-GB" dirty="0" err="1"/>
              <a:t>twintig</a:t>
            </a:r>
            <a:r>
              <a:rPr lang="en-GB" dirty="0"/>
              <a:t> </a:t>
            </a:r>
            <a:r>
              <a:rPr lang="en-GB" dirty="0" err="1"/>
              <a:t>jaar</a:t>
            </a:r>
            <a:r>
              <a:rPr lang="en-GB" dirty="0"/>
              <a:t> </a:t>
            </a:r>
            <a:r>
              <a:rPr lang="en-GB" dirty="0" err="1"/>
              <a:t>bij</a:t>
            </a:r>
            <a:r>
              <a:rPr lang="en-GB" dirty="0"/>
              <a:t> diverse </a:t>
            </a:r>
            <a:r>
              <a:rPr lang="en-GB" dirty="0" err="1"/>
              <a:t>bedrijven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instellingen</a:t>
            </a:r>
            <a:r>
              <a:rPr lang="en-GB" dirty="0"/>
              <a:t> in de IT-sector. </a:t>
            </a:r>
            <a:br>
              <a:rPr lang="en-GB" dirty="0"/>
            </a:br>
            <a:r>
              <a:rPr lang="en-GB" dirty="0" err="1"/>
              <a:t>Sinds</a:t>
            </a:r>
            <a:r>
              <a:rPr lang="en-GB" dirty="0"/>
              <a:t> 2018 </a:t>
            </a:r>
            <a:r>
              <a:rPr lang="en-GB" dirty="0" err="1"/>
              <a:t>werkt</a:t>
            </a:r>
            <a:r>
              <a:rPr lang="en-GB" dirty="0"/>
              <a:t> </a:t>
            </a:r>
            <a:r>
              <a:rPr lang="en-GB" dirty="0" err="1"/>
              <a:t>hij</a:t>
            </a:r>
            <a:r>
              <a:rPr lang="en-GB" dirty="0"/>
              <a:t> in het </a:t>
            </a:r>
            <a:r>
              <a:rPr lang="en-GB" dirty="0" err="1"/>
              <a:t>onderwijs</a:t>
            </a:r>
            <a:r>
              <a:rPr lang="en-GB" dirty="0"/>
              <a:t> </a:t>
            </a:r>
            <a:r>
              <a:rPr lang="en-GB" dirty="0" err="1"/>
              <a:t>als</a:t>
            </a:r>
            <a:r>
              <a:rPr lang="en-GB" dirty="0"/>
              <a:t> docent informatica. </a:t>
            </a:r>
            <a:br>
              <a:rPr lang="en-GB" dirty="0"/>
            </a:br>
            <a:r>
              <a:rPr lang="en-GB" dirty="0"/>
              <a:t>In </a:t>
            </a:r>
            <a:r>
              <a:rPr lang="en-GB" dirty="0" err="1"/>
              <a:t>zijn</a:t>
            </a:r>
            <a:r>
              <a:rPr lang="en-GB" dirty="0"/>
              <a:t> lessen </a:t>
            </a:r>
            <a:r>
              <a:rPr lang="en-GB" dirty="0" err="1"/>
              <a:t>maakt</a:t>
            </a:r>
            <a:r>
              <a:rPr lang="en-GB" dirty="0"/>
              <a:t> </a:t>
            </a:r>
            <a:r>
              <a:rPr lang="en-GB" dirty="0" err="1"/>
              <a:t>hij</a:t>
            </a:r>
            <a:r>
              <a:rPr lang="en-GB" dirty="0"/>
              <a:t> </a:t>
            </a:r>
            <a:r>
              <a:rPr lang="en-GB" dirty="0" err="1"/>
              <a:t>veelvuldig</a:t>
            </a:r>
            <a:r>
              <a:rPr lang="en-GB" dirty="0"/>
              <a:t> </a:t>
            </a:r>
            <a:r>
              <a:rPr lang="en-GB" dirty="0" err="1"/>
              <a:t>gebruik</a:t>
            </a:r>
            <a:r>
              <a:rPr lang="en-GB" dirty="0"/>
              <a:t> van online </a:t>
            </a:r>
            <a:r>
              <a:rPr lang="en-GB" dirty="0" err="1"/>
              <a:t>ontwikkelomgevingen</a:t>
            </a:r>
            <a:r>
              <a:rPr lang="en-GB" dirty="0"/>
              <a:t>, de </a:t>
            </a:r>
            <a:r>
              <a:rPr lang="en-GB" dirty="0" err="1"/>
              <a:t>laatste</a:t>
            </a:r>
            <a:r>
              <a:rPr lang="en-GB" dirty="0"/>
              <a:t> </a:t>
            </a:r>
            <a:r>
              <a:rPr lang="en-GB" dirty="0" err="1"/>
              <a:t>drie</a:t>
            </a:r>
            <a:r>
              <a:rPr lang="en-GB" dirty="0"/>
              <a:t> </a:t>
            </a:r>
            <a:r>
              <a:rPr lang="en-GB" dirty="0" err="1"/>
              <a:t>jaar</a:t>
            </a:r>
            <a:r>
              <a:rPr lang="en-GB" dirty="0"/>
              <a:t> </a:t>
            </a:r>
            <a:r>
              <a:rPr lang="en-GB" dirty="0" err="1"/>
              <a:t>voornamelijk</a:t>
            </a:r>
            <a:r>
              <a:rPr lang="en-GB" dirty="0"/>
              <a:t> van </a:t>
            </a:r>
            <a:r>
              <a:rPr lang="en-GB" dirty="0" err="1"/>
              <a:t>Codespaces</a:t>
            </a:r>
            <a:r>
              <a:rPr lang="en-GB" dirty="0"/>
              <a:t> met GitHub </a:t>
            </a:r>
            <a:r>
              <a:rPr lang="en-GB" dirty="0" err="1"/>
              <a:t>en</a:t>
            </a:r>
            <a:r>
              <a:rPr lang="en-GB" dirty="0"/>
              <a:t> VS Code. </a:t>
            </a:r>
          </a:p>
        </p:txBody>
      </p:sp>
    </p:spTree>
    <p:extLst>
      <p:ext uri="{BB962C8B-B14F-4D97-AF65-F5344CB8AC3E}">
        <p14:creationId xmlns:p14="http://schemas.microsoft.com/office/powerpoint/2010/main" val="1729005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792</TotalTime>
  <Words>1084</Words>
  <Application>Microsoft Macintosh PowerPoint</Application>
  <PresentationFormat>Widescreen</PresentationFormat>
  <Paragraphs>146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Menlo</vt:lpstr>
      <vt:lpstr>Office Theme</vt:lpstr>
      <vt:lpstr>Codespaces Inspiratiedag 25 maart 2026</vt:lpstr>
      <vt:lpstr>Wie zitten in de zaal?</vt:lpstr>
      <vt:lpstr>Codespaces met VS Code op GitHub</vt:lpstr>
      <vt:lpstr>Functionaliteit</vt:lpstr>
      <vt:lpstr>Gebruikersinterface (vscode web)</vt:lpstr>
      <vt:lpstr>Architectuur (github &amp; codespaces)</vt:lpstr>
      <vt:lpstr>Aan de slag</vt:lpstr>
      <vt:lpstr>Aan de slag</vt:lpstr>
      <vt:lpstr>Documentatie</vt:lpstr>
      <vt:lpstr>Backup Slides ontwikkelomgevingen</vt:lpstr>
      <vt:lpstr>Enkele ontwikkelomgevingen</vt:lpstr>
      <vt:lpstr>Local vs Online</vt:lpstr>
      <vt:lpstr>Universeel vs taal-specifiek</vt:lpstr>
      <vt:lpstr>Backup Slides Codespaces</vt:lpstr>
      <vt:lpstr>Codespaces key components</vt:lpstr>
      <vt:lpstr>Remote development with VS Code</vt:lpstr>
      <vt:lpstr>Codespaces architecture</vt:lpstr>
      <vt:lpstr>How git works</vt:lpstr>
      <vt:lpstr>Backup slides aan de slag</vt:lpstr>
      <vt:lpstr>Meer repositories met startcode</vt:lpstr>
      <vt:lpstr>Configuratie (devcontainer) zie https://github.com/informatica-actief</vt:lpstr>
      <vt:lpstr>Backup slides GitHub</vt:lpstr>
      <vt:lpstr>…</vt:lpstr>
      <vt:lpstr>Backup slides aankondiging workshop</vt:lpstr>
      <vt:lpstr>Aankondigingstekst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Sander van Geest</dc:creator>
  <cp:lastModifiedBy>Sander van Geest</cp:lastModifiedBy>
  <cp:revision>56</cp:revision>
  <dcterms:created xsi:type="dcterms:W3CDTF">2025-05-07T14:37:53Z</dcterms:created>
  <dcterms:modified xsi:type="dcterms:W3CDTF">2026-03-23T16:23:12Z</dcterms:modified>
</cp:coreProperties>
</file>